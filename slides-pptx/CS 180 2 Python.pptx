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media/image2.jpeg" ContentType="image/jpeg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9" name="Shape 20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8" name="Shape 2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lnSpc>
                <a:spcPct val="100000"/>
              </a:lnSpc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Resources: https://www.youtube.com/watch?v=9JUAPgtkKpI, https://www.youtube.com/watch?v=lLRBYKwP8GQ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Hot-air balloons viewed from below against a blue sky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ot-air balloons viewed from below against a blue sky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the top of a hot-air balloon viewed from above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Hot-air balloons viewed from below against a blue sky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Hot-air balloons viewed from below against a blue sky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8"/>
          <p:cNvSpPr/>
          <p:nvPr/>
        </p:nvSpPr>
        <p:spPr>
          <a:xfrm>
            <a:off x="893067" y="914400"/>
            <a:ext cx="7406642" cy="189994"/>
          </a:xfrm>
          <a:prstGeom prst="rect">
            <a:avLst/>
          </a:prstGeom>
          <a:solidFill>
            <a:srgbClr val="465359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170" name="Rectangle 9"/>
          <p:cNvSpPr/>
          <p:nvPr/>
        </p:nvSpPr>
        <p:spPr>
          <a:xfrm>
            <a:off x="16084294" y="907285"/>
            <a:ext cx="7406641" cy="197109"/>
          </a:xfrm>
          <a:prstGeom prst="rect">
            <a:avLst/>
          </a:prstGeom>
          <a:solidFill>
            <a:srgbClr val="969FA7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171" name="Rectangle 10"/>
          <p:cNvSpPr/>
          <p:nvPr/>
        </p:nvSpPr>
        <p:spPr>
          <a:xfrm>
            <a:off x="8483659" y="914400"/>
            <a:ext cx="7406641" cy="182881"/>
          </a:xfrm>
          <a:prstGeom prst="rect">
            <a:avLst/>
          </a:prstGeom>
          <a:solidFill>
            <a:srgbClr val="1CADE4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pic>
        <p:nvPicPr>
          <p:cNvPr id="17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46611" y="11860945"/>
            <a:ext cx="2709687" cy="1078297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Title Text"/>
          <p:cNvSpPr txBox="1"/>
          <p:nvPr>
            <p:ph type="title"/>
          </p:nvPr>
        </p:nvSpPr>
        <p:spPr>
          <a:xfrm>
            <a:off x="1162386" y="1459315"/>
            <a:ext cx="22059232" cy="1976666"/>
          </a:xfrm>
          <a:prstGeom prst="rect">
            <a:avLst/>
          </a:prstGeom>
        </p:spPr>
        <p:txBody>
          <a:bodyPr lIns="91439" tIns="91439" rIns="91439" bIns="91439" anchor="b"/>
          <a:lstStyle>
            <a:lvl1pPr defTabSz="914400">
              <a:lnSpc>
                <a:spcPct val="100000"/>
              </a:lnSpc>
              <a:defRPr cap="all" spc="0" sz="5600">
                <a:solidFill>
                  <a:srgbClr val="404040"/>
                </a:solidFill>
                <a:latin typeface="Franklin Gothic Demi"/>
                <a:ea typeface="Franklin Gothic Demi"/>
                <a:cs typeface="Franklin Gothic Demi"/>
                <a:sym typeface="Franklin Gothic Demi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74" name="Body Level One…"/>
          <p:cNvSpPr txBox="1"/>
          <p:nvPr>
            <p:ph type="body" sz="half" idx="1"/>
          </p:nvPr>
        </p:nvSpPr>
        <p:spPr>
          <a:xfrm>
            <a:off x="1162386" y="4456005"/>
            <a:ext cx="10389535" cy="7266095"/>
          </a:xfrm>
          <a:prstGeom prst="rect">
            <a:avLst/>
          </a:prstGeom>
        </p:spPr>
        <p:txBody>
          <a:bodyPr lIns="91439" tIns="91439" rIns="91439" bIns="91439" anchor="ctr"/>
          <a:lstStyle>
            <a:lvl1pPr marL="611999" indent="-611999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  <a:lvl2pPr marL="1067142" indent="-743142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2pPr>
            <a:lvl3pPr marL="1336153" indent="-706153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3pPr>
            <a:lvl4pPr marL="1731272" indent="-723272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4pPr>
            <a:lvl5pPr marL="2091272" indent="-723272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5" name="Slide Number"/>
          <p:cNvSpPr txBox="1"/>
          <p:nvPr>
            <p:ph type="sldNum" sz="quarter" idx="2"/>
          </p:nvPr>
        </p:nvSpPr>
        <p:spPr>
          <a:xfrm>
            <a:off x="22771836" y="12985013"/>
            <a:ext cx="449784" cy="455880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8"/>
          <p:cNvSpPr/>
          <p:nvPr/>
        </p:nvSpPr>
        <p:spPr>
          <a:xfrm>
            <a:off x="893067" y="914400"/>
            <a:ext cx="7406642" cy="189994"/>
          </a:xfrm>
          <a:prstGeom prst="rect">
            <a:avLst/>
          </a:prstGeom>
          <a:solidFill>
            <a:srgbClr val="465359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183" name="Rectangle 9"/>
          <p:cNvSpPr/>
          <p:nvPr/>
        </p:nvSpPr>
        <p:spPr>
          <a:xfrm>
            <a:off x="16084294" y="907285"/>
            <a:ext cx="7406641" cy="197109"/>
          </a:xfrm>
          <a:prstGeom prst="rect">
            <a:avLst/>
          </a:prstGeom>
          <a:solidFill>
            <a:srgbClr val="969FA7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184" name="Rectangle 10"/>
          <p:cNvSpPr/>
          <p:nvPr/>
        </p:nvSpPr>
        <p:spPr>
          <a:xfrm>
            <a:off x="8483659" y="914400"/>
            <a:ext cx="7406641" cy="182881"/>
          </a:xfrm>
          <a:prstGeom prst="rect">
            <a:avLst/>
          </a:prstGeom>
          <a:solidFill>
            <a:srgbClr val="1CADE4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pic>
        <p:nvPicPr>
          <p:cNvPr id="18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46611" y="11860945"/>
            <a:ext cx="2709687" cy="1078297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Title Text"/>
          <p:cNvSpPr txBox="1"/>
          <p:nvPr>
            <p:ph type="title"/>
          </p:nvPr>
        </p:nvSpPr>
        <p:spPr>
          <a:xfrm>
            <a:off x="1162383" y="1404311"/>
            <a:ext cx="22059233" cy="1100349"/>
          </a:xfrm>
          <a:prstGeom prst="rect">
            <a:avLst/>
          </a:prstGeom>
        </p:spPr>
        <p:txBody>
          <a:bodyPr lIns="91439" tIns="91439" rIns="91439" bIns="91439" anchor="b"/>
          <a:lstStyle>
            <a:lvl1pPr defTabSz="914400">
              <a:lnSpc>
                <a:spcPct val="100000"/>
              </a:lnSpc>
              <a:defRPr cap="all" spc="0" sz="5600">
                <a:solidFill>
                  <a:srgbClr val="404040"/>
                </a:solidFill>
                <a:latin typeface="Franklin Gothic Demi"/>
                <a:ea typeface="Franklin Gothic Demi"/>
                <a:cs typeface="Franklin Gothic Demi"/>
                <a:sym typeface="Franklin Gothic Demi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7" name="Body Level One…"/>
          <p:cNvSpPr txBox="1"/>
          <p:nvPr>
            <p:ph type="body" idx="1"/>
          </p:nvPr>
        </p:nvSpPr>
        <p:spPr>
          <a:xfrm>
            <a:off x="1162383" y="2902225"/>
            <a:ext cx="22059232" cy="9048475"/>
          </a:xfrm>
          <a:prstGeom prst="rect">
            <a:avLst/>
          </a:prstGeom>
        </p:spPr>
        <p:txBody>
          <a:bodyPr lIns="91439" tIns="91439" rIns="91439" bIns="91439" anchor="ctr"/>
          <a:lstStyle>
            <a:lvl1pPr marL="611999" indent="-611999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  <a:lvl2pPr marL="1067142" indent="-743142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2pPr>
            <a:lvl3pPr marL="1336153" indent="-706153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3pPr>
            <a:lvl4pPr marL="1731272" indent="-723272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4pPr>
            <a:lvl5pPr marL="2091272" indent="-723272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8" name="Slide Number"/>
          <p:cNvSpPr txBox="1"/>
          <p:nvPr>
            <p:ph type="sldNum" sz="quarter" idx="2"/>
          </p:nvPr>
        </p:nvSpPr>
        <p:spPr>
          <a:xfrm>
            <a:off x="22771836" y="12985013"/>
            <a:ext cx="449784" cy="455880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8"/>
          <p:cNvSpPr/>
          <p:nvPr/>
        </p:nvSpPr>
        <p:spPr>
          <a:xfrm>
            <a:off x="893067" y="914400"/>
            <a:ext cx="7406642" cy="189994"/>
          </a:xfrm>
          <a:prstGeom prst="rect">
            <a:avLst/>
          </a:prstGeom>
          <a:solidFill>
            <a:srgbClr val="465359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196" name="Rectangle 9"/>
          <p:cNvSpPr/>
          <p:nvPr/>
        </p:nvSpPr>
        <p:spPr>
          <a:xfrm>
            <a:off x="16084294" y="907285"/>
            <a:ext cx="7406641" cy="197109"/>
          </a:xfrm>
          <a:prstGeom prst="rect">
            <a:avLst/>
          </a:prstGeom>
          <a:solidFill>
            <a:srgbClr val="969FA7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197" name="Rectangle 10"/>
          <p:cNvSpPr/>
          <p:nvPr/>
        </p:nvSpPr>
        <p:spPr>
          <a:xfrm>
            <a:off x="8483659" y="914400"/>
            <a:ext cx="7406641" cy="182881"/>
          </a:xfrm>
          <a:prstGeom prst="rect">
            <a:avLst/>
          </a:prstGeom>
          <a:solidFill>
            <a:srgbClr val="1CADE4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pic>
        <p:nvPicPr>
          <p:cNvPr id="198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46611" y="11860945"/>
            <a:ext cx="2709687" cy="1078297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Rectangle 6"/>
          <p:cNvSpPr/>
          <p:nvPr/>
        </p:nvSpPr>
        <p:spPr>
          <a:xfrm>
            <a:off x="893067" y="6171527"/>
            <a:ext cx="22597866" cy="6676299"/>
          </a:xfrm>
          <a:prstGeom prst="rect">
            <a:avLst/>
          </a:prstGeom>
          <a:solidFill>
            <a:srgbClr val="465359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200" name="Title Text"/>
          <p:cNvSpPr txBox="1"/>
          <p:nvPr>
            <p:ph type="title"/>
          </p:nvPr>
        </p:nvSpPr>
        <p:spPr>
          <a:xfrm>
            <a:off x="1162381" y="2040862"/>
            <a:ext cx="21987100" cy="2950026"/>
          </a:xfrm>
          <a:prstGeom prst="rect">
            <a:avLst/>
          </a:prstGeom>
        </p:spPr>
        <p:txBody>
          <a:bodyPr lIns="91439" tIns="91439" rIns="91439" bIns="91439" anchor="b"/>
          <a:lstStyle>
            <a:lvl1pPr defTabSz="914400">
              <a:lnSpc>
                <a:spcPct val="100000"/>
              </a:lnSpc>
              <a:defRPr cap="all" spc="0" sz="7200">
                <a:solidFill>
                  <a:srgbClr val="404040"/>
                </a:solidFill>
                <a:latin typeface="Franklin Gothic Demi"/>
                <a:ea typeface="Franklin Gothic Demi"/>
                <a:cs typeface="Franklin Gothic Demi"/>
                <a:sym typeface="Franklin Gothic Demi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01" name="Body Level One…"/>
          <p:cNvSpPr txBox="1"/>
          <p:nvPr>
            <p:ph type="body" sz="quarter" idx="1"/>
          </p:nvPr>
        </p:nvSpPr>
        <p:spPr>
          <a:xfrm>
            <a:off x="1162387" y="4990889"/>
            <a:ext cx="21987094" cy="1180643"/>
          </a:xfrm>
          <a:prstGeom prst="rect">
            <a:avLst/>
          </a:prstGeom>
        </p:spPr>
        <p:txBody>
          <a:bodyPr lIns="91439" tIns="91439" rIns="91439" bIns="91439"/>
          <a:lstStyle>
            <a:lvl1pPr marL="0" indent="0" defTabSz="914400">
              <a:lnSpc>
                <a:spcPct val="110000"/>
              </a:lnSpc>
              <a:spcBef>
                <a:spcPts val="1200"/>
              </a:spcBef>
              <a:buSzTx/>
              <a:buNone/>
              <a:defRPr cap="all" sz="3200">
                <a:solidFill>
                  <a:srgbClr val="1CADE4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  <a:lvl2pPr marL="0" indent="457200" defTabSz="914400">
              <a:lnSpc>
                <a:spcPct val="110000"/>
              </a:lnSpc>
              <a:spcBef>
                <a:spcPts val="1200"/>
              </a:spcBef>
              <a:buSzTx/>
              <a:buNone/>
              <a:defRPr cap="all" sz="3200">
                <a:solidFill>
                  <a:srgbClr val="1CADE4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2pPr>
            <a:lvl3pPr marL="0" indent="914400" defTabSz="914400">
              <a:lnSpc>
                <a:spcPct val="110000"/>
              </a:lnSpc>
              <a:spcBef>
                <a:spcPts val="1200"/>
              </a:spcBef>
              <a:buSzTx/>
              <a:buNone/>
              <a:defRPr cap="all" sz="3200">
                <a:solidFill>
                  <a:srgbClr val="1CADE4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3pPr>
            <a:lvl4pPr marL="0" indent="1371600" defTabSz="914400">
              <a:lnSpc>
                <a:spcPct val="110000"/>
              </a:lnSpc>
              <a:spcBef>
                <a:spcPts val="1200"/>
              </a:spcBef>
              <a:buSzTx/>
              <a:buNone/>
              <a:defRPr cap="all" sz="3200">
                <a:solidFill>
                  <a:srgbClr val="1CADE4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4pPr>
            <a:lvl5pPr marL="0" indent="1828800" defTabSz="914400">
              <a:lnSpc>
                <a:spcPct val="110000"/>
              </a:lnSpc>
              <a:spcBef>
                <a:spcPts val="1200"/>
              </a:spcBef>
              <a:buSzTx/>
              <a:buNone/>
              <a:defRPr cap="all" sz="3200">
                <a:solidFill>
                  <a:srgbClr val="1CADE4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2" name="Slide Number"/>
          <p:cNvSpPr txBox="1"/>
          <p:nvPr>
            <p:ph type="sldNum" sz="quarter" idx="2"/>
          </p:nvPr>
        </p:nvSpPr>
        <p:spPr>
          <a:xfrm>
            <a:off x="22771836" y="12985013"/>
            <a:ext cx="449784" cy="455880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2" name="Data Science Development Tool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Science Development Tools </a:t>
            </a:r>
          </a:p>
        </p:txBody>
      </p:sp>
      <p:sp>
        <p:nvSpPr>
          <p:cNvPr id="213" name="Part 1: Python, NumPy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Part 1: Python, NumPy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Announce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Announcements</a:t>
            </a:r>
          </a:p>
        </p:txBody>
      </p:sp>
      <p:sp>
        <p:nvSpPr>
          <p:cNvPr id="21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7" name="Updated Discord Link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Updated Discord Link</a:t>
            </a:r>
          </a:p>
          <a:p>
            <a:pPr/>
            <a:r>
              <a:t>Update TA Contact Info</a:t>
            </a:r>
          </a:p>
          <a:p>
            <a:pPr/>
            <a:r>
              <a:t>Updated TA Hours</a:t>
            </a:r>
          </a:p>
          <a:p>
            <a:pPr/>
            <a:r>
              <a:t>Chap 2 Reading - Part 1 - Due Jan 17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48" y="-42452"/>
            <a:ext cx="24846779" cy="1623090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rcRect l="0" t="0" r="17170" b="0"/>
          <a:stretch>
            <a:fillRect/>
          </a:stretch>
        </p:blipFill>
        <p:spPr>
          <a:xfrm>
            <a:off x="15689375" y="4256328"/>
            <a:ext cx="7490009" cy="4660245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Line"/>
          <p:cNvSpPr/>
          <p:nvPr/>
        </p:nvSpPr>
        <p:spPr>
          <a:xfrm flipH="1" flipV="1">
            <a:off x="10449698" y="1511501"/>
            <a:ext cx="5245256" cy="4897186"/>
          </a:xfrm>
          <a:prstGeom prst="line">
            <a:avLst/>
          </a:prstGeom>
          <a:ln w="152400">
            <a:solidFill>
              <a:schemeClr val="accent4">
                <a:hueOff val="-476017"/>
                <a:lumOff val="-10042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4" name="Content Placeholder 2"/>
          <p:cNvSpPr txBox="1"/>
          <p:nvPr>
            <p:ph type="body" sz="half" idx="1"/>
          </p:nvPr>
        </p:nvSpPr>
        <p:spPr>
          <a:xfrm>
            <a:off x="1206500" y="3342287"/>
            <a:ext cx="9779000" cy="9162847"/>
          </a:xfrm>
          <a:prstGeom prst="rect">
            <a:avLst/>
          </a:prstGeom>
        </p:spPr>
        <p:txBody>
          <a:bodyPr/>
          <a:lstStyle/>
          <a:p>
            <a:pPr marL="581399" indent="-581399" defTabSz="2316421">
              <a:lnSpc>
                <a:spcPct val="99000"/>
              </a:lnSpc>
              <a:spcBef>
                <a:spcPts val="1000"/>
              </a:spcBef>
              <a:defRPr sz="4560"/>
            </a:pPr>
            <a:r>
              <a:t>Start with Pickaxe and Shovel</a:t>
            </a:r>
          </a:p>
          <a:p>
            <a:pPr marL="581399" indent="-581399" defTabSz="2316421">
              <a:lnSpc>
                <a:spcPct val="99000"/>
              </a:lnSpc>
              <a:spcBef>
                <a:spcPts val="1000"/>
              </a:spcBef>
              <a:defRPr sz="4560"/>
            </a:pPr>
            <a:r>
              <a:t>Move to jack hammer and other automated tools</a:t>
            </a:r>
          </a:p>
          <a:p>
            <a:pPr marL="581399" indent="-581399" defTabSz="2316421">
              <a:lnSpc>
                <a:spcPct val="99000"/>
              </a:lnSpc>
              <a:spcBef>
                <a:spcPts val="1000"/>
              </a:spcBef>
              <a:defRPr sz="4560"/>
            </a:pPr>
            <a:r>
              <a:rPr b="1"/>
              <a:t>Languages</a:t>
            </a:r>
            <a:r>
              <a:t> - Python, SQL, </a:t>
            </a:r>
            <a:r>
              <a:rPr>
                <a:solidFill>
                  <a:srgbClr val="BFBFBF"/>
                </a:solidFill>
              </a:rPr>
              <a:t>R</a:t>
            </a:r>
            <a:r>
              <a:t> </a:t>
            </a:r>
          </a:p>
          <a:p>
            <a:pPr marL="581399" indent="-581399" defTabSz="2316421">
              <a:lnSpc>
                <a:spcPct val="99000"/>
              </a:lnSpc>
              <a:spcBef>
                <a:spcPts val="1000"/>
              </a:spcBef>
              <a:defRPr sz="4560"/>
            </a:pPr>
            <a:r>
              <a:rPr b="1"/>
              <a:t>Editors</a:t>
            </a:r>
            <a:r>
              <a:t> — Jupyter, Colab, VSCode, PyChar etc.</a:t>
            </a:r>
          </a:p>
          <a:p>
            <a:pPr marL="581399" indent="-581399" defTabSz="2316421">
              <a:lnSpc>
                <a:spcPct val="99000"/>
              </a:lnSpc>
              <a:spcBef>
                <a:spcPts val="1000"/>
              </a:spcBef>
              <a:defRPr sz="4560"/>
            </a:pPr>
            <a:r>
              <a:rPr b="1"/>
              <a:t>Libraries</a:t>
            </a:r>
            <a:r>
              <a:t> - NumPy, Pandas, Matplotlib, Seaborn, Scikit-Learn</a:t>
            </a:r>
          </a:p>
          <a:p>
            <a:pPr marL="581399" indent="-581399" defTabSz="2316421">
              <a:lnSpc>
                <a:spcPct val="99000"/>
              </a:lnSpc>
              <a:spcBef>
                <a:spcPts val="1000"/>
              </a:spcBef>
              <a:defRPr sz="4560"/>
            </a:pPr>
            <a:r>
              <a:rPr b="1"/>
              <a:t>Business Intelligence Platforms</a:t>
            </a:r>
            <a:r>
              <a:t> - </a:t>
            </a:r>
            <a:r>
              <a:rPr>
                <a:solidFill>
                  <a:srgbClr val="929292"/>
                </a:solidFill>
              </a:rPr>
              <a:t>Tableau, </a:t>
            </a:r>
            <a:r>
              <a:rPr>
                <a:solidFill>
                  <a:srgbClr val="BFBFBF"/>
                </a:solidFill>
              </a:rPr>
              <a:t>PowerBI</a:t>
            </a:r>
            <a:endParaRPr>
              <a:solidFill>
                <a:srgbClr val="BFBFBF"/>
              </a:solidFill>
            </a:endParaRPr>
          </a:p>
          <a:p>
            <a:pPr marL="581399" indent="-581399" defTabSz="2316421">
              <a:lnSpc>
                <a:spcPct val="99000"/>
              </a:lnSpc>
              <a:spcBef>
                <a:spcPts val="1000"/>
              </a:spcBef>
              <a:defRPr sz="4560">
                <a:solidFill>
                  <a:srgbClr val="BFBFBF"/>
                </a:solidFill>
              </a:defRPr>
            </a:pPr>
            <a:r>
              <a:t>AWS QuickSight/SageMaker, Dataiku, DataRobot, DataBricks</a:t>
            </a:r>
          </a:p>
        </p:txBody>
      </p:sp>
      <p:pic>
        <p:nvPicPr>
          <p:cNvPr id="225" name="Hot-air balloons viewed from below against a blue sky" descr="Hot-air balloons viewed from below against a blue sky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2192000" y="2491200"/>
            <a:ext cx="10916874" cy="8733500"/>
          </a:xfrm>
          <a:prstGeom prst="rect">
            <a:avLst/>
          </a:prstGeom>
        </p:spPr>
      </p:pic>
      <p:sp>
        <p:nvSpPr>
          <p:cNvPr id="22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/>
            </a:lvl1pPr>
          </a:lstStyle>
          <a:p>
            <a:pPr/>
            <a:r>
              <a:t>Tools for Data Mining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2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500"/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500"/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500"/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500"/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22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Common Data Science Packages for Python</a:t>
            </a:r>
          </a:p>
        </p:txBody>
      </p:sp>
      <p:sp>
        <p:nvSpPr>
          <p:cNvPr id="22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30" name="Content Placeholder 4" descr="Content Placeholder 4"/>
          <p:cNvPicPr>
            <a:picLocks noChangeAspect="1"/>
          </p:cNvPicPr>
          <p:nvPr/>
        </p:nvPicPr>
        <p:blipFill>
          <a:blip r:embed="rId2">
            <a:extLst/>
          </a:blip>
          <a:srcRect l="0" t="8571" r="0" b="0"/>
          <a:stretch>
            <a:fillRect/>
          </a:stretch>
        </p:blipFill>
        <p:spPr>
          <a:xfrm>
            <a:off x="2376397" y="2189908"/>
            <a:ext cx="20266776" cy="10722733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Left Brace 5"/>
          <p:cNvSpPr/>
          <p:nvPr/>
        </p:nvSpPr>
        <p:spPr>
          <a:xfrm>
            <a:off x="1945859" y="4412974"/>
            <a:ext cx="655985" cy="51683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498"/>
                  <a:pt x="10800" y="21372"/>
                </a:cubicBezTo>
                <a:lnTo>
                  <a:pt x="10800" y="11028"/>
                </a:lnTo>
                <a:cubicBezTo>
                  <a:pt x="10800" y="10902"/>
                  <a:pt x="5965" y="10800"/>
                  <a:pt x="0" y="10800"/>
                </a:cubicBezTo>
                <a:cubicBezTo>
                  <a:pt x="5965" y="10800"/>
                  <a:pt x="10800" y="10698"/>
                  <a:pt x="10800" y="10572"/>
                </a:cubicBezTo>
                <a:lnTo>
                  <a:pt x="10800" y="228"/>
                </a:lnTo>
                <a:cubicBezTo>
                  <a:pt x="10800" y="102"/>
                  <a:pt x="15635" y="0"/>
                  <a:pt x="21600" y="0"/>
                </a:cubicBezTo>
              </a:path>
            </a:pathLst>
          </a:custGeom>
          <a:ln w="25400" cap="rnd">
            <a:solidFill>
              <a:srgbClr val="189CCE"/>
            </a:solidFill>
          </a:ln>
        </p:spPr>
        <p:txBody>
          <a:bodyPr tIns="91439" bIns="91439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232" name="TextBox 6"/>
          <p:cNvSpPr txBox="1"/>
          <p:nvPr/>
        </p:nvSpPr>
        <p:spPr>
          <a:xfrm>
            <a:off x="238313" y="6647694"/>
            <a:ext cx="1785070" cy="716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/>
            <a:r>
              <a:t>CS 180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2" grpId="1"/>
      <p:bldP build="whole" bldLvl="1" animBg="1" rev="0" advAuto="0" spid="231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NumPy</a:t>
            </a:r>
          </a:p>
        </p:txBody>
      </p:sp>
      <p:sp>
        <p:nvSpPr>
          <p:cNvPr id="23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6" name="Spelled: NumPy, Pronounced “num-pie”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60070" indent="-560070" defTabSz="1792223">
              <a:lnSpc>
                <a:spcPct val="100000"/>
              </a:lnSpc>
              <a:spcBef>
                <a:spcPts val="1100"/>
              </a:spcBef>
              <a:buSzPct val="100000"/>
              <a:buFont typeface="Arial"/>
              <a:defRPr b="1" sz="392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Spelled: NumPy, Pronounced “num-pie”</a:t>
            </a:r>
          </a:p>
          <a:p>
            <a:pPr marL="560070" indent="-560070" defTabSz="1792223">
              <a:lnSpc>
                <a:spcPct val="100000"/>
              </a:lnSpc>
              <a:spcBef>
                <a:spcPts val="1100"/>
              </a:spcBef>
              <a:buSzPct val="100000"/>
              <a:buFont typeface="Arial"/>
              <a:defRPr b="1" sz="392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What is NumPy?</a:t>
            </a:r>
            <a:r>
              <a:rPr b="0"/>
              <a:t> NumPy (Numerical Python) is the fundamental package for scientific computing with Python. It provides a high-performance multidimensional array object and tools for working with these arrays.</a:t>
            </a:r>
            <a:endParaRPr b="0"/>
          </a:p>
          <a:p>
            <a:pPr marL="560070" indent="-560070" defTabSz="1792223">
              <a:lnSpc>
                <a:spcPct val="100000"/>
              </a:lnSpc>
              <a:spcBef>
                <a:spcPts val="1100"/>
              </a:spcBef>
              <a:buSzPct val="100000"/>
              <a:buFont typeface="Arial"/>
              <a:defRPr b="1" sz="392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Why NumPy?</a:t>
            </a:r>
          </a:p>
          <a:p>
            <a:pPr lvl="1" marL="1008126" indent="-560070" defTabSz="1792223">
              <a:lnSpc>
                <a:spcPct val="100000"/>
              </a:lnSpc>
              <a:spcBef>
                <a:spcPts val="1100"/>
              </a:spcBef>
              <a:buSzPct val="100000"/>
              <a:buFont typeface="Arial"/>
              <a:defRPr b="1" sz="392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Speed:</a:t>
            </a:r>
            <a:r>
              <a:rPr b="0"/>
              <a:t> NumPy arrays are more efficient and faster than Python lists for numerical operations, as they are implemented in C.</a:t>
            </a:r>
            <a:endParaRPr b="0"/>
          </a:p>
          <a:p>
            <a:pPr lvl="1" marL="1008126" indent="-560070" defTabSz="1792223">
              <a:lnSpc>
                <a:spcPct val="100000"/>
              </a:lnSpc>
              <a:spcBef>
                <a:spcPts val="1100"/>
              </a:spcBef>
              <a:buSzPct val="100000"/>
              <a:buFont typeface="Arial"/>
              <a:defRPr b="1" sz="392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Functionality:</a:t>
            </a:r>
            <a:r>
              <a:rPr b="0"/>
              <a:t> It provides a rich set of functions for linear algebra, Fourier transforms, and random number generation.</a:t>
            </a:r>
            <a:endParaRPr b="0"/>
          </a:p>
          <a:p>
            <a:pPr lvl="1" marL="1008126" indent="-560070" defTabSz="1792223">
              <a:lnSpc>
                <a:spcPct val="100000"/>
              </a:lnSpc>
              <a:spcBef>
                <a:spcPts val="1100"/>
              </a:spcBef>
              <a:buSzPct val="100000"/>
              <a:buFont typeface="Arial"/>
              <a:defRPr b="1" sz="392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Foundation:</a:t>
            </a:r>
            <a:r>
              <a:rPr b="0"/>
              <a:t> Many other data science libraries like Pandas, SciPy, and Scikit-learn are built on top of NumPy.</a:t>
            </a:r>
            <a:endParaRPr b="0"/>
          </a:p>
          <a:p>
            <a:pPr marL="560070" indent="-560070" defTabSz="1792223">
              <a:lnSpc>
                <a:spcPct val="100000"/>
              </a:lnSpc>
              <a:spcBef>
                <a:spcPts val="1100"/>
              </a:spcBef>
              <a:buSzPct val="100000"/>
              <a:buFont typeface="Arial"/>
              <a:defRPr b="1" sz="392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rPr b="0"/>
              <a:t>Originally Developed by </a:t>
            </a:r>
            <a:r>
              <a:t>Travis Oliphan</a:t>
            </a:r>
            <a:r>
              <a:rPr b="0"/>
              <a:t> - Assistant Professor 2001-2007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NumPy Array Functions</a:t>
            </a:r>
          </a:p>
        </p:txBody>
      </p:sp>
      <p:sp>
        <p:nvSpPr>
          <p:cNvPr id="24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54365" y="2200107"/>
            <a:ext cx="17562605" cy="110660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Upcoming Assignments</a:t>
            </a:r>
          </a:p>
        </p:txBody>
      </p:sp>
      <p:sp>
        <p:nvSpPr>
          <p:cNvPr id="24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6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11999" indent="-611999">
              <a:spcBef>
                <a:spcPts val="1100"/>
              </a:spcBef>
            </a:pPr>
            <a:r>
              <a:t>Reading: 2.1 – 2.5</a:t>
            </a:r>
          </a:p>
          <a:p>
            <a:pPr marL="611999" indent="-611999">
              <a:spcBef>
                <a:spcPts val="1100"/>
              </a:spcBef>
            </a:pPr>
            <a:r>
              <a:t>DS Lab 2: Vectorization due Jan 17</a:t>
            </a:r>
            <a:r>
              <a:rPr baseline="31000"/>
              <a:t>th</a:t>
            </a:r>
            <a:r>
              <a:t> 11:59 pm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