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media/image1.jpeg" ContentType="image/jpeg"/>
  <Override PartName="/ppt/theme/theme2.xml" ContentType="application/vnd.openxmlformats-officedocument.theme+xml"/>
  <Override PartName="/ppt/media/image2.jpeg" ContentType="image/jpeg"/>
  <Override PartName="/ppt/notesSlides/notesSlide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 b="def" i="def"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Shape 208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09" name="Shape 209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Shape 266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67" name="Shape 267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 defTabSz="914400">
              <a:lnSpc>
                <a:spcPct val="100000"/>
              </a:lnSpc>
              <a:defRPr sz="1200">
                <a:latin typeface="Calibri"/>
                <a:ea typeface="Calibri"/>
                <a:cs typeface="Calibri"/>
                <a:sym typeface="Calibri"/>
              </a:defRPr>
            </a:pPr>
            <a:r>
              <a:t>When you perform an operation with axis=1, </a:t>
            </a:r>
            <a:r>
              <a:rPr b="1"/>
              <a:t>you are telling NumPy to perform the operation </a:t>
            </a:r>
            <a:r>
              <a:rPr b="1" i="1"/>
              <a:t>along</a:t>
            </a:r>
            <a:r>
              <a:rPr b="1"/>
              <a:t> the columns</a:t>
            </a:r>
            <a:r>
              <a:t>, which effectively collapses the columns and results in a value for each row.</a:t>
            </a:r>
          </a:p>
          <a:p>
            <a:pPr defTabSz="914400">
              <a:lnSpc>
                <a:spcPct val="100000"/>
              </a:lnSpc>
              <a:defRPr sz="1200">
                <a:latin typeface="Calibri"/>
                <a:ea typeface="Calibri"/>
                <a:cs typeface="Calibri"/>
                <a:sym typeface="Calibri"/>
              </a:defRPr>
            </a:pPr>
            <a:r>
              <a:t>Think of it this way:</a:t>
            </a:r>
          </a:p>
          <a:p>
            <a:pPr defTabSz="914400">
              <a:lnSpc>
                <a:spcPct val="100000"/>
              </a:lnSpc>
              <a:defRPr sz="1200">
                <a:latin typeface="Calibri"/>
                <a:ea typeface="Calibri"/>
                <a:cs typeface="Calibri"/>
                <a:sym typeface="Calibri"/>
              </a:defRPr>
            </a:pPr>
            <a:r>
              <a:t>axis=0: The operation is applied down each column. The result will have a value for each column.</a:t>
            </a:r>
          </a:p>
          <a:p>
            <a:pPr defTabSz="914400">
              <a:lnSpc>
                <a:spcPct val="100000"/>
              </a:lnSpc>
              <a:defRPr sz="1200">
                <a:latin typeface="Calibri"/>
                <a:ea typeface="Calibri"/>
                <a:cs typeface="Calibri"/>
                <a:sym typeface="Calibri"/>
              </a:defRPr>
            </a:pPr>
            <a:r>
              <a:t>axis=1: The operation is applied across each row. The result will have a value for each row.</a:t>
            </a:r>
          </a:p>
          <a:p>
            <a:pPr defTabSz="914400">
              <a:lnSpc>
                <a:spcPct val="100000"/>
              </a:lnSpc>
              <a:defRPr sz="1200">
                <a:latin typeface="Calibri"/>
                <a:ea typeface="Calibri"/>
                <a:cs typeface="Calibri"/>
                <a:sym typeface="Calibri"/>
              </a:defRPr>
            </a:pPr>
            <a:r>
              <a:t>So, when you use np.mean(np_array, axis=1), you are calculating the mean of all the elements </a:t>
            </a:r>
            <a:r>
              <a:rPr i="1"/>
              <a:t>across</a:t>
            </a:r>
            <a:r>
              <a:t> each row, giving you the average for each row.</a:t>
            </a:r>
          </a:p>
        </p:txBody>
      </p:sp>
    </p:spTree>
  </p:cSld>
  <p:clrMapOvr>
    <a:masterClrMapping/>
  </p:clrMapOvr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">
    <p:bg>
      <p:bgPr>
        <a:solidFill>
          <a:srgbClr val="00346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uthor and Date"/>
          <p:cNvSpPr txBox="1"/>
          <p:nvPr>
            <p:ph type="body" sz="quarter" idx="21" hasCustomPrompt="1"/>
          </p:nvPr>
        </p:nvSpPr>
        <p:spPr>
          <a:xfrm>
            <a:off x="1201340" y="11847162"/>
            <a:ext cx="21971003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>
                <a:solidFill>
                  <a:srgbClr val="FFFFFF"/>
                </a:solidFill>
              </a:defRPr>
            </a:lvl1pPr>
          </a:lstStyle>
          <a:p>
            <a:pPr/>
            <a:r>
              <a:t>Author and Date</a:t>
            </a:r>
          </a:p>
        </p:txBody>
      </p:sp>
      <p:sp>
        <p:nvSpPr>
          <p:cNvPr id="12" name="Presentation Title"/>
          <p:cNvSpPr txBox="1"/>
          <p:nvPr>
            <p:ph type="title" hasCustomPrompt="1"/>
          </p:nvPr>
        </p:nvSpPr>
        <p:spPr>
          <a:xfrm>
            <a:off x="1206496" y="2574991"/>
            <a:ext cx="21971004" cy="4648201"/>
          </a:xfrm>
          <a:prstGeom prst="rect">
            <a:avLst/>
          </a:prstGeom>
        </p:spPr>
        <p:txBody>
          <a:bodyPr anchor="b"/>
          <a:lstStyle>
            <a:lvl1pPr>
              <a:defRPr spc="-232" sz="11600">
                <a:solidFill>
                  <a:srgbClr val="FFFFFF"/>
                </a:solidFill>
              </a:defRPr>
            </a:lvl1pPr>
          </a:lstStyle>
          <a:p>
            <a:pPr/>
            <a:r>
              <a:t>Presentation Title</a:t>
            </a:r>
          </a:p>
        </p:txBody>
      </p:sp>
      <p:sp>
        <p:nvSpPr>
          <p:cNvPr id="13" name="Body Level One…"/>
          <p:cNvSpPr txBox="1"/>
          <p:nvPr>
            <p:ph type="body" sz="quarter" idx="1" hasCustomPrompt="1"/>
          </p:nvPr>
        </p:nvSpPr>
        <p:spPr>
          <a:xfrm>
            <a:off x="1201342" y="7210490"/>
            <a:ext cx="21971001" cy="1905001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>
                <a:solidFill>
                  <a:schemeClr val="accent1"/>
                </a:solidFill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>
                <a:solidFill>
                  <a:schemeClr val="accent1"/>
                </a:solidFill>
              </a:defRPr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>
                <a:solidFill>
                  <a:schemeClr val="accent1"/>
                </a:solidFill>
              </a:defRPr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>
                <a:solidFill>
                  <a:schemeClr val="accent1"/>
                </a:solidFill>
              </a:defRPr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>
                <a:solidFill>
                  <a:schemeClr val="accent1"/>
                </a:solidFill>
              </a:defRPr>
            </a:lvl5pPr>
          </a:lstStyle>
          <a:p>
            <a:pPr/>
            <a:r>
              <a:t>Presentation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Close-up of the top of a hot-air balloon viewed from above"/>
          <p:cNvSpPr/>
          <p:nvPr>
            <p:ph type="pic" idx="21"/>
          </p:nvPr>
        </p:nvSpPr>
        <p:spPr>
          <a:xfrm>
            <a:off x="0" y="-1270000"/>
            <a:ext cx="24384000" cy="16256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22" name="Presentation Title"/>
          <p:cNvSpPr txBox="1"/>
          <p:nvPr>
            <p:ph type="title" hasCustomPrompt="1"/>
          </p:nvPr>
        </p:nvSpPr>
        <p:spPr>
          <a:xfrm>
            <a:off x="1206500" y="7124700"/>
            <a:ext cx="21971000" cy="4648200"/>
          </a:xfrm>
          <a:prstGeom prst="rect">
            <a:avLst/>
          </a:prstGeom>
        </p:spPr>
        <p:txBody>
          <a:bodyPr anchor="b"/>
          <a:lstStyle>
            <a:lvl1pPr>
              <a:defRPr spc="-232" sz="11600">
                <a:solidFill>
                  <a:srgbClr val="FFFFFF"/>
                </a:solidFill>
              </a:defRPr>
            </a:lvl1pPr>
          </a:lstStyle>
          <a:p>
            <a:pPr/>
            <a:r>
              <a:t>Presentation Title</a:t>
            </a:r>
          </a:p>
        </p:txBody>
      </p:sp>
      <p:sp>
        <p:nvSpPr>
          <p:cNvPr id="23" name="Author and Date"/>
          <p:cNvSpPr txBox="1"/>
          <p:nvPr>
            <p:ph type="body" sz="quarter" idx="22" hasCustomPrompt="1"/>
          </p:nvPr>
        </p:nvSpPr>
        <p:spPr>
          <a:xfrm>
            <a:off x="1207690" y="1106137"/>
            <a:ext cx="21968621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Author and Date</a:t>
            </a:r>
          </a:p>
        </p:txBody>
      </p:sp>
      <p:sp>
        <p:nvSpPr>
          <p:cNvPr id="24" name="Body Level One…"/>
          <p:cNvSpPr txBox="1"/>
          <p:nvPr>
            <p:ph type="body" sz="quarter" idx="1" hasCustomPrompt="1"/>
          </p:nvPr>
        </p:nvSpPr>
        <p:spPr>
          <a:xfrm>
            <a:off x="1206500" y="11609910"/>
            <a:ext cx="21971000" cy="1116952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>
                <a:solidFill>
                  <a:srgbClr val="FFFFFF"/>
                </a:solidFill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>
                <a:solidFill>
                  <a:srgbClr val="FFFFFF"/>
                </a:solidFill>
              </a:defRPr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>
                <a:solidFill>
                  <a:srgbClr val="FFFFFF"/>
                </a:solidFill>
              </a:defRPr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>
                <a:solidFill>
                  <a:srgbClr val="FFFFFF"/>
                </a:solidFill>
              </a:defRPr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>
                <a:solidFill>
                  <a:srgbClr val="FFFFFF"/>
                </a:solidFill>
              </a:defRPr>
            </a:lvl5pPr>
          </a:lstStyle>
          <a:p>
            <a:pPr/>
            <a:r>
              <a:t>Presentation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Close-up of a hot-air balloon viewed from below"/>
          <p:cNvSpPr/>
          <p:nvPr>
            <p:ph type="pic" idx="21"/>
          </p:nvPr>
        </p:nvSpPr>
        <p:spPr>
          <a:xfrm>
            <a:off x="9226574" y="1270000"/>
            <a:ext cx="16840152" cy="11184435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33" name="Slide Title"/>
          <p:cNvSpPr txBox="1"/>
          <p:nvPr>
            <p:ph type="title" hasCustomPrompt="1"/>
          </p:nvPr>
        </p:nvSpPr>
        <p:spPr>
          <a:xfrm>
            <a:off x="1206500" y="1270000"/>
            <a:ext cx="9779000" cy="5882273"/>
          </a:xfrm>
          <a:prstGeom prst="rect">
            <a:avLst/>
          </a:prstGeom>
        </p:spPr>
        <p:txBody>
          <a:bodyPr anchor="b"/>
          <a:lstStyle/>
          <a:p>
            <a:pPr/>
            <a:r>
              <a:t>Slide Title</a:t>
            </a:r>
          </a:p>
        </p:txBody>
      </p:sp>
      <p:sp>
        <p:nvSpPr>
          <p:cNvPr id="34" name="Body Level One…"/>
          <p:cNvSpPr txBox="1"/>
          <p:nvPr>
            <p:ph type="body" sz="quarter" idx="1" hasCustomPrompt="1"/>
          </p:nvPr>
        </p:nvSpPr>
        <p:spPr>
          <a:xfrm>
            <a:off x="1206500" y="7060576"/>
            <a:ext cx="9779000" cy="5385424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Slide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5" name="Slide Number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lide Title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43" name="Slide Subtitle"/>
          <p:cNvSpPr txBox="1"/>
          <p:nvPr>
            <p:ph type="body" sz="quarter" idx="21" hasCustomPrompt="1"/>
          </p:nvPr>
        </p:nvSpPr>
        <p:spPr>
          <a:xfrm>
            <a:off x="1206500" y="2245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44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 numCol="2" spcCol="1098550"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5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lide Subtitle"/>
          <p:cNvSpPr txBox="1"/>
          <p:nvPr>
            <p:ph type="body" sz="quarter" idx="21" hasCustomPrompt="1"/>
          </p:nvPr>
        </p:nvSpPr>
        <p:spPr>
          <a:xfrm>
            <a:off x="1206500" y="2247900"/>
            <a:ext cx="9779000" cy="9347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61" name="Body Level One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62" name="Hot-air balloons viewed from below against a blue sky"/>
          <p:cNvSpPr/>
          <p:nvPr>
            <p:ph type="pic" idx="22"/>
          </p:nvPr>
        </p:nvSpPr>
        <p:spPr>
          <a:xfrm>
            <a:off x="8432800" y="1263848"/>
            <a:ext cx="16850011" cy="11188205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63" name="Slide Title"/>
          <p:cNvSpPr txBox="1"/>
          <p:nvPr>
            <p:ph type="title" hasCustomPrompt="1"/>
          </p:nvPr>
        </p:nvSpPr>
        <p:spPr>
          <a:xfrm>
            <a:off x="1206500" y="952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6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Live Video Sm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lide Subtitle"/>
          <p:cNvSpPr txBox="1"/>
          <p:nvPr>
            <p:ph type="body" sz="quarter" idx="21" hasCustomPrompt="1"/>
          </p:nvPr>
        </p:nvSpPr>
        <p:spPr>
          <a:xfrm>
            <a:off x="1206500" y="2247900"/>
            <a:ext cx="9779000" cy="9347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72" name="Body Level One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73" name="Slide Title"/>
          <p:cNvSpPr txBox="1"/>
          <p:nvPr>
            <p:ph type="title" hasCustomPrompt="1"/>
          </p:nvPr>
        </p:nvSpPr>
        <p:spPr>
          <a:xfrm>
            <a:off x="1206500" y="952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7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Live Video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Slide Subtitle"/>
          <p:cNvSpPr txBox="1"/>
          <p:nvPr>
            <p:ph type="body" sz="quarter" idx="21" hasCustomPrompt="1"/>
          </p:nvPr>
        </p:nvSpPr>
        <p:spPr>
          <a:xfrm>
            <a:off x="1206500" y="2247900"/>
            <a:ext cx="9779000" cy="9347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82" name="Body Level One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83" name="Slide Title"/>
          <p:cNvSpPr txBox="1"/>
          <p:nvPr>
            <p:ph type="title" hasCustomPrompt="1"/>
          </p:nvPr>
        </p:nvSpPr>
        <p:spPr>
          <a:xfrm>
            <a:off x="1206500" y="952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8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">
    <p:bg>
      <p:bgPr>
        <a:solidFill>
          <a:srgbClr val="00346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ection Title"/>
          <p:cNvSpPr txBox="1"/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>
              <a:defRPr b="0" spc="-232" sz="116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Section Title</a:t>
            </a:r>
          </a:p>
        </p:txBody>
      </p:sp>
      <p:sp>
        <p:nvSpPr>
          <p:cNvPr id="92" name="Slide Number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lide Title"/>
          <p:cNvSpPr txBox="1"/>
          <p:nvPr>
            <p:ph type="title" hasCustomPrompt="1"/>
          </p:nvPr>
        </p:nvSpPr>
        <p:spPr>
          <a:xfrm>
            <a:off x="1206500" y="952500"/>
            <a:ext cx="21971000" cy="1434949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100" name="Slide Subtitle"/>
          <p:cNvSpPr txBox="1"/>
          <p:nvPr>
            <p:ph type="body" sz="quarter" idx="21" hasCustomPrompt="1"/>
          </p:nvPr>
        </p:nvSpPr>
        <p:spPr>
          <a:xfrm>
            <a:off x="1206500" y="2247900"/>
            <a:ext cx="21971000" cy="9347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10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Agenda Title"/>
          <p:cNvSpPr txBox="1"/>
          <p:nvPr>
            <p:ph type="title" hasCustomPrompt="1"/>
          </p:nvPr>
        </p:nvSpPr>
        <p:spPr>
          <a:xfrm>
            <a:off x="1206500" y="952500"/>
            <a:ext cx="21971000" cy="1435100"/>
          </a:xfrm>
          <a:prstGeom prst="rect">
            <a:avLst/>
          </a:prstGeom>
        </p:spPr>
        <p:txBody>
          <a:bodyPr/>
          <a:lstStyle/>
          <a:p>
            <a:pPr/>
            <a:r>
              <a:t>Agenda Title</a:t>
            </a:r>
          </a:p>
        </p:txBody>
      </p:sp>
      <p:sp>
        <p:nvSpPr>
          <p:cNvPr id="109" name="Agenda Subtitle"/>
          <p:cNvSpPr txBox="1"/>
          <p:nvPr>
            <p:ph type="body" sz="quarter" idx="21" hasCustomPrompt="1"/>
          </p:nvPr>
        </p:nvSpPr>
        <p:spPr>
          <a:xfrm>
            <a:off x="1206500" y="2247900"/>
            <a:ext cx="21971000" cy="9347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Agenda Subtitle</a:t>
            </a:r>
          </a:p>
        </p:txBody>
      </p:sp>
      <p:sp>
        <p:nvSpPr>
          <p:cNvPr id="110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1pPr>
            <a:lvl2pPr marL="0" indent="4572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2pPr>
            <a:lvl3pPr marL="0" indent="9144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3pPr>
            <a:lvl4pPr marL="0" indent="13716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4pPr>
            <a:lvl5pPr marL="0" indent="18288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5pPr>
          </a:lstStyle>
          <a:p>
            <a:pPr/>
            <a:r>
              <a:t>Agenda Topics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Body Level One…"/>
          <p:cNvSpPr txBox="1"/>
          <p:nvPr>
            <p:ph type="body" sz="half" idx="1" hasCustomPrompt="1"/>
          </p:nvPr>
        </p:nvSpPr>
        <p:spPr>
          <a:xfrm>
            <a:off x="1206500" y="4920843"/>
            <a:ext cx="21971000" cy="3874314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solidFill>
                  <a:schemeClr val="accent1">
                    <a:hueOff val="114395"/>
                    <a:lumOff val="-24975"/>
                  </a:scheme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solidFill>
                  <a:schemeClr val="accent1">
                    <a:hueOff val="114395"/>
                    <a:lumOff val="-24975"/>
                  </a:scheme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solidFill>
                  <a:schemeClr val="accent1">
                    <a:hueOff val="114395"/>
                    <a:lumOff val="-24975"/>
                  </a:scheme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solidFill>
                  <a:schemeClr val="accent1">
                    <a:hueOff val="114395"/>
                    <a:lumOff val="-24975"/>
                  </a:scheme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solidFill>
                  <a:schemeClr val="accent1">
                    <a:hueOff val="114395"/>
                    <a:lumOff val="-24975"/>
                  </a:scheme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Statement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ig F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Body Level One…"/>
          <p:cNvSpPr txBox="1"/>
          <p:nvPr>
            <p:ph type="body" idx="1" hasCustomPrompt="1"/>
          </p:nvPr>
        </p:nvSpPr>
        <p:spPr>
          <a:xfrm>
            <a:off x="1206500" y="1075927"/>
            <a:ext cx="21971000" cy="7241584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>
                <a:solidFill>
                  <a:schemeClr val="accent1">
                    <a:hueOff val="114395"/>
                    <a:lumOff val="-24975"/>
                  </a:schemeClr>
                </a:solidFill>
              </a:defRPr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>
                <a:solidFill>
                  <a:schemeClr val="accent1">
                    <a:hueOff val="114395"/>
                    <a:lumOff val="-24975"/>
                  </a:schemeClr>
                </a:solidFill>
              </a:defRPr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>
                <a:solidFill>
                  <a:schemeClr val="accent1">
                    <a:hueOff val="114395"/>
                    <a:lumOff val="-24975"/>
                  </a:schemeClr>
                </a:solidFill>
              </a:defRPr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>
                <a:solidFill>
                  <a:schemeClr val="accent1">
                    <a:hueOff val="114395"/>
                    <a:lumOff val="-24975"/>
                  </a:schemeClr>
                </a:solidFill>
              </a:defRPr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>
                <a:solidFill>
                  <a:schemeClr val="accent1">
                    <a:hueOff val="114395"/>
                    <a:lumOff val="-24975"/>
                  </a:schemeClr>
                </a:solidFill>
              </a:defRPr>
            </a:lvl5pPr>
          </a:lstStyle>
          <a:p>
            <a:pPr/>
            <a:r>
              <a:t>100%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27" name="Fact information"/>
          <p:cNvSpPr txBox="1"/>
          <p:nvPr>
            <p:ph type="body" sz="quarter" idx="21" hasCustomPrompt="1"/>
          </p:nvPr>
        </p:nvSpPr>
        <p:spPr>
          <a:xfrm>
            <a:off x="1206500" y="8262180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Fact information</a:t>
            </a:r>
          </a:p>
        </p:txBody>
      </p:sp>
      <p:sp>
        <p:nvSpPr>
          <p:cNvPr id="12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Attribution"/>
          <p:cNvSpPr txBox="1"/>
          <p:nvPr>
            <p:ph type="body" sz="quarter" idx="21" hasCustomPrompt="1"/>
          </p:nvPr>
        </p:nvSpPr>
        <p:spPr>
          <a:xfrm>
            <a:off x="2480825" y="10675453"/>
            <a:ext cx="20149252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Attribution</a:t>
            </a:r>
          </a:p>
        </p:txBody>
      </p:sp>
      <p:sp>
        <p:nvSpPr>
          <p:cNvPr id="136" name="Body Level One…"/>
          <p:cNvSpPr txBox="1"/>
          <p:nvPr>
            <p:ph type="body" sz="half" idx="1" hasCustomPrompt="1"/>
          </p:nvPr>
        </p:nvSpPr>
        <p:spPr>
          <a:xfrm>
            <a:off x="1753923" y="4939860"/>
            <a:ext cx="20876154" cy="3836280"/>
          </a:xfrm>
          <a:prstGeom prst="rect">
            <a:avLst/>
          </a:prstGeom>
        </p:spPr>
        <p:txBody>
          <a:bodyPr/>
          <a:lstStyle>
            <a:lvl1pPr marL="638923" indent="-469900">
              <a:spcBef>
                <a:spcPts val="0"/>
              </a:spcBef>
              <a:buSzTx/>
              <a:buNone/>
              <a:defRPr spc="-170" sz="8500">
                <a:solidFill>
                  <a:schemeClr val="accent1">
                    <a:hueOff val="114395"/>
                    <a:lumOff val="-24975"/>
                  </a:scheme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638923" indent="-12700">
              <a:spcBef>
                <a:spcPts val="0"/>
              </a:spcBef>
              <a:buSzTx/>
              <a:buNone/>
              <a:defRPr spc="-170" sz="8500">
                <a:solidFill>
                  <a:schemeClr val="accent1">
                    <a:hueOff val="114395"/>
                    <a:lumOff val="-24975"/>
                  </a:scheme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638923" indent="444500">
              <a:spcBef>
                <a:spcPts val="0"/>
              </a:spcBef>
              <a:buSzTx/>
              <a:buNone/>
              <a:defRPr spc="-170" sz="8500">
                <a:solidFill>
                  <a:schemeClr val="accent1">
                    <a:hueOff val="114395"/>
                    <a:lumOff val="-24975"/>
                  </a:scheme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638923" indent="901700">
              <a:spcBef>
                <a:spcPts val="0"/>
              </a:spcBef>
              <a:buSzTx/>
              <a:buNone/>
              <a:defRPr spc="-170" sz="8500">
                <a:solidFill>
                  <a:schemeClr val="accent1">
                    <a:hueOff val="114395"/>
                    <a:lumOff val="-24975"/>
                  </a:scheme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638923" indent="1358900">
              <a:spcBef>
                <a:spcPts val="0"/>
              </a:spcBef>
              <a:buSzTx/>
              <a:buNone/>
              <a:defRPr spc="-170" sz="8500">
                <a:solidFill>
                  <a:schemeClr val="accent1">
                    <a:hueOff val="114395"/>
                    <a:lumOff val="-24975"/>
                  </a:scheme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“Notable Quote”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3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Hot-air balloons viewed from below against a blue sky"/>
          <p:cNvSpPr/>
          <p:nvPr>
            <p:ph type="pic" sz="quarter" idx="21"/>
          </p:nvPr>
        </p:nvSpPr>
        <p:spPr>
          <a:xfrm>
            <a:off x="15436504" y="1270000"/>
            <a:ext cx="8167167" cy="54229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5" name="Close-up of the top of a hot-air balloon viewed from above"/>
          <p:cNvSpPr/>
          <p:nvPr>
            <p:ph type="pic" sz="quarter" idx="22"/>
          </p:nvPr>
        </p:nvSpPr>
        <p:spPr>
          <a:xfrm>
            <a:off x="15461772" y="7085972"/>
            <a:ext cx="8148414" cy="5432276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6" name="Hot-air balloons viewed from below against a blue sky"/>
          <p:cNvSpPr/>
          <p:nvPr>
            <p:ph type="pic" idx="23"/>
          </p:nvPr>
        </p:nvSpPr>
        <p:spPr>
          <a:xfrm>
            <a:off x="-124635" y="1270000"/>
            <a:ext cx="16859219" cy="11239479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Hot-air balloons viewed from below against a blue sky"/>
          <p:cNvSpPr/>
          <p:nvPr>
            <p:ph type="pic" idx="21"/>
          </p:nvPr>
        </p:nvSpPr>
        <p:spPr>
          <a:xfrm>
            <a:off x="0" y="-1270000"/>
            <a:ext cx="24384000" cy="16256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5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Rectangle 8"/>
          <p:cNvSpPr/>
          <p:nvPr/>
        </p:nvSpPr>
        <p:spPr>
          <a:xfrm>
            <a:off x="893067" y="914400"/>
            <a:ext cx="7406642" cy="189994"/>
          </a:xfrm>
          <a:prstGeom prst="rect">
            <a:avLst/>
          </a:prstGeom>
          <a:solidFill>
            <a:srgbClr val="465359"/>
          </a:solidFill>
          <a:ln w="12700">
            <a:miter lim="400000"/>
          </a:ln>
        </p:spPr>
        <p:txBody>
          <a:bodyPr tIns="91439" bIns="91439"/>
          <a:lstStyle/>
          <a:p>
            <a:pPr defTabSz="1828800">
              <a:lnSpc>
                <a:spcPct val="100000"/>
              </a:lnSpc>
              <a:spcBef>
                <a:spcPts val="0"/>
              </a:spcBef>
              <a:defRPr sz="3600">
                <a:latin typeface="Franklin Gothic Book"/>
                <a:ea typeface="Franklin Gothic Book"/>
                <a:cs typeface="Franklin Gothic Book"/>
                <a:sym typeface="Franklin Gothic Book"/>
              </a:defRPr>
            </a:pPr>
          </a:p>
        </p:txBody>
      </p:sp>
      <p:sp>
        <p:nvSpPr>
          <p:cNvPr id="170" name="Rectangle 9"/>
          <p:cNvSpPr/>
          <p:nvPr/>
        </p:nvSpPr>
        <p:spPr>
          <a:xfrm>
            <a:off x="16084294" y="907285"/>
            <a:ext cx="7406641" cy="197109"/>
          </a:xfrm>
          <a:prstGeom prst="rect">
            <a:avLst/>
          </a:prstGeom>
          <a:solidFill>
            <a:srgbClr val="969FA7"/>
          </a:solidFill>
          <a:ln w="12700">
            <a:miter lim="400000"/>
          </a:ln>
        </p:spPr>
        <p:txBody>
          <a:bodyPr tIns="91439" bIns="91439"/>
          <a:lstStyle/>
          <a:p>
            <a:pPr defTabSz="1828800">
              <a:lnSpc>
                <a:spcPct val="100000"/>
              </a:lnSpc>
              <a:spcBef>
                <a:spcPts val="0"/>
              </a:spcBef>
              <a:defRPr sz="3600">
                <a:latin typeface="Franklin Gothic Book"/>
                <a:ea typeface="Franklin Gothic Book"/>
                <a:cs typeface="Franklin Gothic Book"/>
                <a:sym typeface="Franklin Gothic Book"/>
              </a:defRPr>
            </a:pPr>
          </a:p>
        </p:txBody>
      </p:sp>
      <p:sp>
        <p:nvSpPr>
          <p:cNvPr id="171" name="Rectangle 10"/>
          <p:cNvSpPr/>
          <p:nvPr/>
        </p:nvSpPr>
        <p:spPr>
          <a:xfrm>
            <a:off x="8483659" y="914400"/>
            <a:ext cx="7406641" cy="182881"/>
          </a:xfrm>
          <a:prstGeom prst="rect">
            <a:avLst/>
          </a:prstGeom>
          <a:solidFill>
            <a:srgbClr val="1CADE4"/>
          </a:solidFill>
          <a:ln w="12700">
            <a:miter lim="400000"/>
          </a:ln>
        </p:spPr>
        <p:txBody>
          <a:bodyPr tIns="91439" bIns="91439"/>
          <a:lstStyle/>
          <a:p>
            <a:pPr defTabSz="1828800">
              <a:lnSpc>
                <a:spcPct val="100000"/>
              </a:lnSpc>
              <a:spcBef>
                <a:spcPts val="0"/>
              </a:spcBef>
              <a:defRPr sz="3600">
                <a:latin typeface="Franklin Gothic Book"/>
                <a:ea typeface="Franklin Gothic Book"/>
                <a:cs typeface="Franklin Gothic Book"/>
                <a:sym typeface="Franklin Gothic Book"/>
              </a:defRPr>
            </a:pPr>
          </a:p>
        </p:txBody>
      </p:sp>
      <p:pic>
        <p:nvPicPr>
          <p:cNvPr id="172" name="Picture 6" descr="Picture 6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0946611" y="11860945"/>
            <a:ext cx="2709687" cy="1078297"/>
          </a:xfrm>
          <a:prstGeom prst="rect">
            <a:avLst/>
          </a:prstGeom>
          <a:ln w="12700">
            <a:miter lim="400000"/>
          </a:ln>
        </p:spPr>
      </p:pic>
      <p:sp>
        <p:nvSpPr>
          <p:cNvPr id="173" name="Title Text"/>
          <p:cNvSpPr txBox="1"/>
          <p:nvPr>
            <p:ph type="title"/>
          </p:nvPr>
        </p:nvSpPr>
        <p:spPr>
          <a:xfrm>
            <a:off x="1162386" y="1459315"/>
            <a:ext cx="22059232" cy="1976666"/>
          </a:xfrm>
          <a:prstGeom prst="rect">
            <a:avLst/>
          </a:prstGeom>
        </p:spPr>
        <p:txBody>
          <a:bodyPr lIns="91439" tIns="91439" rIns="91439" bIns="91439" anchor="b"/>
          <a:lstStyle>
            <a:lvl1pPr defTabSz="914400">
              <a:lnSpc>
                <a:spcPct val="100000"/>
              </a:lnSpc>
              <a:defRPr cap="all" spc="0" sz="5600">
                <a:solidFill>
                  <a:srgbClr val="404040"/>
                </a:solidFill>
                <a:latin typeface="Franklin Gothic Demi"/>
                <a:ea typeface="Franklin Gothic Demi"/>
                <a:cs typeface="Franklin Gothic Demi"/>
                <a:sym typeface="Franklin Gothic Demi"/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174" name="Body Level One…"/>
          <p:cNvSpPr txBox="1"/>
          <p:nvPr>
            <p:ph type="body" sz="half" idx="1"/>
          </p:nvPr>
        </p:nvSpPr>
        <p:spPr>
          <a:xfrm>
            <a:off x="1162386" y="4456005"/>
            <a:ext cx="10389535" cy="7266095"/>
          </a:xfrm>
          <a:prstGeom prst="rect">
            <a:avLst/>
          </a:prstGeom>
        </p:spPr>
        <p:txBody>
          <a:bodyPr lIns="91439" tIns="91439" rIns="91439" bIns="91439" anchor="ctr"/>
          <a:lstStyle>
            <a:lvl1pPr marL="611999" indent="-611999" defTabSz="914400">
              <a:lnSpc>
                <a:spcPct val="110000"/>
              </a:lnSpc>
              <a:spcBef>
                <a:spcPts val="1200"/>
              </a:spcBef>
              <a:buClr>
                <a:srgbClr val="1CADE4"/>
              </a:buClr>
              <a:buSzPct val="92000"/>
              <a:buChar char="◼"/>
              <a:defRPr sz="3400">
                <a:solidFill>
                  <a:srgbClr val="404040"/>
                </a:solidFill>
                <a:latin typeface="Franklin Gothic Book"/>
                <a:ea typeface="Franklin Gothic Book"/>
                <a:cs typeface="Franklin Gothic Book"/>
                <a:sym typeface="Franklin Gothic Book"/>
              </a:defRPr>
            </a:lvl1pPr>
            <a:lvl2pPr marL="1067142" indent="-743142" defTabSz="914400">
              <a:lnSpc>
                <a:spcPct val="110000"/>
              </a:lnSpc>
              <a:spcBef>
                <a:spcPts val="1200"/>
              </a:spcBef>
              <a:buClr>
                <a:srgbClr val="1CADE4"/>
              </a:buClr>
              <a:buSzPct val="92000"/>
              <a:buChar char="◼"/>
              <a:defRPr sz="3400">
                <a:solidFill>
                  <a:srgbClr val="404040"/>
                </a:solidFill>
                <a:latin typeface="Franklin Gothic Book"/>
                <a:ea typeface="Franklin Gothic Book"/>
                <a:cs typeface="Franklin Gothic Book"/>
                <a:sym typeface="Franklin Gothic Book"/>
              </a:defRPr>
            </a:lvl2pPr>
            <a:lvl3pPr marL="1336153" indent="-706153" defTabSz="914400">
              <a:lnSpc>
                <a:spcPct val="110000"/>
              </a:lnSpc>
              <a:spcBef>
                <a:spcPts val="1200"/>
              </a:spcBef>
              <a:buClr>
                <a:srgbClr val="1CADE4"/>
              </a:buClr>
              <a:buSzPct val="92000"/>
              <a:buChar char="◼"/>
              <a:defRPr sz="3400">
                <a:solidFill>
                  <a:srgbClr val="404040"/>
                </a:solidFill>
                <a:latin typeface="Franklin Gothic Book"/>
                <a:ea typeface="Franklin Gothic Book"/>
                <a:cs typeface="Franklin Gothic Book"/>
                <a:sym typeface="Franklin Gothic Book"/>
              </a:defRPr>
            </a:lvl3pPr>
            <a:lvl4pPr marL="1731272" indent="-723272" defTabSz="914400">
              <a:lnSpc>
                <a:spcPct val="110000"/>
              </a:lnSpc>
              <a:spcBef>
                <a:spcPts val="1200"/>
              </a:spcBef>
              <a:buClr>
                <a:srgbClr val="1CADE4"/>
              </a:buClr>
              <a:buSzPct val="92000"/>
              <a:buChar char="◼"/>
              <a:defRPr sz="3400">
                <a:solidFill>
                  <a:srgbClr val="404040"/>
                </a:solidFill>
                <a:latin typeface="Franklin Gothic Book"/>
                <a:ea typeface="Franklin Gothic Book"/>
                <a:cs typeface="Franklin Gothic Book"/>
                <a:sym typeface="Franklin Gothic Book"/>
              </a:defRPr>
            </a:lvl4pPr>
            <a:lvl5pPr marL="2091272" indent="-723272" defTabSz="914400">
              <a:lnSpc>
                <a:spcPct val="110000"/>
              </a:lnSpc>
              <a:spcBef>
                <a:spcPts val="1200"/>
              </a:spcBef>
              <a:buClr>
                <a:srgbClr val="1CADE4"/>
              </a:buClr>
              <a:buSzPct val="92000"/>
              <a:buChar char="◼"/>
              <a:defRPr sz="3400">
                <a:solidFill>
                  <a:srgbClr val="404040"/>
                </a:solidFill>
                <a:latin typeface="Franklin Gothic Book"/>
                <a:ea typeface="Franklin Gothic Book"/>
                <a:cs typeface="Franklin Gothic Book"/>
                <a:sym typeface="Franklin Gothic Book"/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75" name="Slide Number"/>
          <p:cNvSpPr txBox="1"/>
          <p:nvPr>
            <p:ph type="sldNum" sz="quarter" idx="2"/>
          </p:nvPr>
        </p:nvSpPr>
        <p:spPr>
          <a:xfrm>
            <a:off x="22771836" y="12985013"/>
            <a:ext cx="449784" cy="455880"/>
          </a:xfrm>
          <a:prstGeom prst="rect">
            <a:avLst/>
          </a:prstGeom>
        </p:spPr>
        <p:txBody>
          <a:bodyPr lIns="91439" tIns="91439" rIns="91439" bIns="91439" anchor="ctr"/>
          <a:lstStyle>
            <a:lvl1pPr algn="r" defTabSz="1828800">
              <a:defRPr>
                <a:solidFill>
                  <a:srgbClr val="404040"/>
                </a:solidFill>
                <a:latin typeface="Franklin Gothic Book"/>
                <a:ea typeface="Franklin Gothic Book"/>
                <a:cs typeface="Franklin Gothic Book"/>
                <a:sym typeface="Franklin Gothic Book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Rectangle 8"/>
          <p:cNvSpPr/>
          <p:nvPr/>
        </p:nvSpPr>
        <p:spPr>
          <a:xfrm>
            <a:off x="893067" y="914400"/>
            <a:ext cx="7406642" cy="189994"/>
          </a:xfrm>
          <a:prstGeom prst="rect">
            <a:avLst/>
          </a:prstGeom>
          <a:solidFill>
            <a:srgbClr val="465359"/>
          </a:solidFill>
          <a:ln w="12700">
            <a:miter lim="400000"/>
          </a:ln>
        </p:spPr>
        <p:txBody>
          <a:bodyPr tIns="91439" bIns="91439"/>
          <a:lstStyle/>
          <a:p>
            <a:pPr defTabSz="1828800">
              <a:lnSpc>
                <a:spcPct val="100000"/>
              </a:lnSpc>
              <a:spcBef>
                <a:spcPts val="0"/>
              </a:spcBef>
              <a:defRPr sz="3600">
                <a:latin typeface="Franklin Gothic Book"/>
                <a:ea typeface="Franklin Gothic Book"/>
                <a:cs typeface="Franklin Gothic Book"/>
                <a:sym typeface="Franklin Gothic Book"/>
              </a:defRPr>
            </a:pPr>
          </a:p>
        </p:txBody>
      </p:sp>
      <p:sp>
        <p:nvSpPr>
          <p:cNvPr id="183" name="Rectangle 9"/>
          <p:cNvSpPr/>
          <p:nvPr/>
        </p:nvSpPr>
        <p:spPr>
          <a:xfrm>
            <a:off x="16084294" y="907285"/>
            <a:ext cx="7406641" cy="197109"/>
          </a:xfrm>
          <a:prstGeom prst="rect">
            <a:avLst/>
          </a:prstGeom>
          <a:solidFill>
            <a:srgbClr val="969FA7"/>
          </a:solidFill>
          <a:ln w="12700">
            <a:miter lim="400000"/>
          </a:ln>
        </p:spPr>
        <p:txBody>
          <a:bodyPr tIns="91439" bIns="91439"/>
          <a:lstStyle/>
          <a:p>
            <a:pPr defTabSz="1828800">
              <a:lnSpc>
                <a:spcPct val="100000"/>
              </a:lnSpc>
              <a:spcBef>
                <a:spcPts val="0"/>
              </a:spcBef>
              <a:defRPr sz="3600">
                <a:latin typeface="Franklin Gothic Book"/>
                <a:ea typeface="Franklin Gothic Book"/>
                <a:cs typeface="Franklin Gothic Book"/>
                <a:sym typeface="Franklin Gothic Book"/>
              </a:defRPr>
            </a:pPr>
          </a:p>
        </p:txBody>
      </p:sp>
      <p:sp>
        <p:nvSpPr>
          <p:cNvPr id="184" name="Rectangle 10"/>
          <p:cNvSpPr/>
          <p:nvPr/>
        </p:nvSpPr>
        <p:spPr>
          <a:xfrm>
            <a:off x="8483659" y="914400"/>
            <a:ext cx="7406641" cy="182881"/>
          </a:xfrm>
          <a:prstGeom prst="rect">
            <a:avLst/>
          </a:prstGeom>
          <a:solidFill>
            <a:srgbClr val="1CADE4"/>
          </a:solidFill>
          <a:ln w="12700">
            <a:miter lim="400000"/>
          </a:ln>
        </p:spPr>
        <p:txBody>
          <a:bodyPr tIns="91439" bIns="91439"/>
          <a:lstStyle/>
          <a:p>
            <a:pPr defTabSz="1828800">
              <a:lnSpc>
                <a:spcPct val="100000"/>
              </a:lnSpc>
              <a:spcBef>
                <a:spcPts val="0"/>
              </a:spcBef>
              <a:defRPr sz="3600">
                <a:latin typeface="Franklin Gothic Book"/>
                <a:ea typeface="Franklin Gothic Book"/>
                <a:cs typeface="Franklin Gothic Book"/>
                <a:sym typeface="Franklin Gothic Book"/>
              </a:defRPr>
            </a:pPr>
          </a:p>
        </p:txBody>
      </p:sp>
      <p:pic>
        <p:nvPicPr>
          <p:cNvPr id="185" name="Picture 6" descr="Picture 6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0946611" y="11860945"/>
            <a:ext cx="2709687" cy="1078297"/>
          </a:xfrm>
          <a:prstGeom prst="rect">
            <a:avLst/>
          </a:prstGeom>
          <a:ln w="12700">
            <a:miter lim="400000"/>
          </a:ln>
        </p:spPr>
      </p:pic>
      <p:sp>
        <p:nvSpPr>
          <p:cNvPr id="186" name="Title Text"/>
          <p:cNvSpPr txBox="1"/>
          <p:nvPr>
            <p:ph type="title"/>
          </p:nvPr>
        </p:nvSpPr>
        <p:spPr>
          <a:xfrm>
            <a:off x="1162383" y="1404311"/>
            <a:ext cx="22059233" cy="1100349"/>
          </a:xfrm>
          <a:prstGeom prst="rect">
            <a:avLst/>
          </a:prstGeom>
        </p:spPr>
        <p:txBody>
          <a:bodyPr lIns="91439" tIns="91439" rIns="91439" bIns="91439" anchor="b"/>
          <a:lstStyle>
            <a:lvl1pPr defTabSz="914400">
              <a:lnSpc>
                <a:spcPct val="100000"/>
              </a:lnSpc>
              <a:defRPr cap="all" spc="0" sz="5600">
                <a:solidFill>
                  <a:srgbClr val="404040"/>
                </a:solidFill>
                <a:latin typeface="Franklin Gothic Demi"/>
                <a:ea typeface="Franklin Gothic Demi"/>
                <a:cs typeface="Franklin Gothic Demi"/>
                <a:sym typeface="Franklin Gothic Demi"/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187" name="Body Level One…"/>
          <p:cNvSpPr txBox="1"/>
          <p:nvPr>
            <p:ph type="body" idx="1"/>
          </p:nvPr>
        </p:nvSpPr>
        <p:spPr>
          <a:xfrm>
            <a:off x="1162383" y="2902225"/>
            <a:ext cx="22059232" cy="9048475"/>
          </a:xfrm>
          <a:prstGeom prst="rect">
            <a:avLst/>
          </a:prstGeom>
        </p:spPr>
        <p:txBody>
          <a:bodyPr lIns="91439" tIns="91439" rIns="91439" bIns="91439" anchor="ctr"/>
          <a:lstStyle>
            <a:lvl1pPr marL="611999" indent="-611999" defTabSz="914400">
              <a:lnSpc>
                <a:spcPct val="110000"/>
              </a:lnSpc>
              <a:spcBef>
                <a:spcPts val="1200"/>
              </a:spcBef>
              <a:buClr>
                <a:srgbClr val="1CADE4"/>
              </a:buClr>
              <a:buSzPct val="92000"/>
              <a:buChar char="◼"/>
              <a:defRPr sz="3400">
                <a:solidFill>
                  <a:srgbClr val="404040"/>
                </a:solidFill>
                <a:latin typeface="Franklin Gothic Book"/>
                <a:ea typeface="Franklin Gothic Book"/>
                <a:cs typeface="Franklin Gothic Book"/>
                <a:sym typeface="Franklin Gothic Book"/>
              </a:defRPr>
            </a:lvl1pPr>
            <a:lvl2pPr marL="1067142" indent="-743142" defTabSz="914400">
              <a:lnSpc>
                <a:spcPct val="110000"/>
              </a:lnSpc>
              <a:spcBef>
                <a:spcPts val="1200"/>
              </a:spcBef>
              <a:buClr>
                <a:srgbClr val="1CADE4"/>
              </a:buClr>
              <a:buSzPct val="92000"/>
              <a:buChar char="◼"/>
              <a:defRPr sz="3400">
                <a:solidFill>
                  <a:srgbClr val="404040"/>
                </a:solidFill>
                <a:latin typeface="Franklin Gothic Book"/>
                <a:ea typeface="Franklin Gothic Book"/>
                <a:cs typeface="Franklin Gothic Book"/>
                <a:sym typeface="Franklin Gothic Book"/>
              </a:defRPr>
            </a:lvl2pPr>
            <a:lvl3pPr marL="1336153" indent="-706153" defTabSz="914400">
              <a:lnSpc>
                <a:spcPct val="110000"/>
              </a:lnSpc>
              <a:spcBef>
                <a:spcPts val="1200"/>
              </a:spcBef>
              <a:buClr>
                <a:srgbClr val="1CADE4"/>
              </a:buClr>
              <a:buSzPct val="92000"/>
              <a:buChar char="◼"/>
              <a:defRPr sz="3400">
                <a:solidFill>
                  <a:srgbClr val="404040"/>
                </a:solidFill>
                <a:latin typeface="Franklin Gothic Book"/>
                <a:ea typeface="Franklin Gothic Book"/>
                <a:cs typeface="Franklin Gothic Book"/>
                <a:sym typeface="Franklin Gothic Book"/>
              </a:defRPr>
            </a:lvl3pPr>
            <a:lvl4pPr marL="1731272" indent="-723272" defTabSz="914400">
              <a:lnSpc>
                <a:spcPct val="110000"/>
              </a:lnSpc>
              <a:spcBef>
                <a:spcPts val="1200"/>
              </a:spcBef>
              <a:buClr>
                <a:srgbClr val="1CADE4"/>
              </a:buClr>
              <a:buSzPct val="92000"/>
              <a:buChar char="◼"/>
              <a:defRPr sz="3400">
                <a:solidFill>
                  <a:srgbClr val="404040"/>
                </a:solidFill>
                <a:latin typeface="Franklin Gothic Book"/>
                <a:ea typeface="Franklin Gothic Book"/>
                <a:cs typeface="Franklin Gothic Book"/>
                <a:sym typeface="Franklin Gothic Book"/>
              </a:defRPr>
            </a:lvl4pPr>
            <a:lvl5pPr marL="2091272" indent="-723272" defTabSz="914400">
              <a:lnSpc>
                <a:spcPct val="110000"/>
              </a:lnSpc>
              <a:spcBef>
                <a:spcPts val="1200"/>
              </a:spcBef>
              <a:buClr>
                <a:srgbClr val="1CADE4"/>
              </a:buClr>
              <a:buSzPct val="92000"/>
              <a:buChar char="◼"/>
              <a:defRPr sz="3400">
                <a:solidFill>
                  <a:srgbClr val="404040"/>
                </a:solidFill>
                <a:latin typeface="Franklin Gothic Book"/>
                <a:ea typeface="Franklin Gothic Book"/>
                <a:cs typeface="Franklin Gothic Book"/>
                <a:sym typeface="Franklin Gothic Book"/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88" name="Slide Number"/>
          <p:cNvSpPr txBox="1"/>
          <p:nvPr>
            <p:ph type="sldNum" sz="quarter" idx="2"/>
          </p:nvPr>
        </p:nvSpPr>
        <p:spPr>
          <a:xfrm>
            <a:off x="22771836" y="12985013"/>
            <a:ext cx="449784" cy="455880"/>
          </a:xfrm>
          <a:prstGeom prst="rect">
            <a:avLst/>
          </a:prstGeom>
        </p:spPr>
        <p:txBody>
          <a:bodyPr lIns="91439" tIns="91439" rIns="91439" bIns="91439" anchor="ctr"/>
          <a:lstStyle>
            <a:lvl1pPr algn="r" defTabSz="1828800">
              <a:defRPr>
                <a:solidFill>
                  <a:srgbClr val="404040"/>
                </a:solidFill>
                <a:latin typeface="Franklin Gothic Book"/>
                <a:ea typeface="Franklin Gothic Book"/>
                <a:cs typeface="Franklin Gothic Book"/>
                <a:sym typeface="Franklin Gothic Book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Rectangle 8"/>
          <p:cNvSpPr/>
          <p:nvPr/>
        </p:nvSpPr>
        <p:spPr>
          <a:xfrm>
            <a:off x="893067" y="914400"/>
            <a:ext cx="7406642" cy="189994"/>
          </a:xfrm>
          <a:prstGeom prst="rect">
            <a:avLst/>
          </a:prstGeom>
          <a:solidFill>
            <a:srgbClr val="465359"/>
          </a:solidFill>
          <a:ln w="12700">
            <a:miter lim="400000"/>
          </a:ln>
        </p:spPr>
        <p:txBody>
          <a:bodyPr tIns="91439" bIns="91439"/>
          <a:lstStyle/>
          <a:p>
            <a:pPr defTabSz="1828800">
              <a:lnSpc>
                <a:spcPct val="100000"/>
              </a:lnSpc>
              <a:spcBef>
                <a:spcPts val="0"/>
              </a:spcBef>
              <a:defRPr sz="3600">
                <a:latin typeface="Franklin Gothic Book"/>
                <a:ea typeface="Franklin Gothic Book"/>
                <a:cs typeface="Franklin Gothic Book"/>
                <a:sym typeface="Franklin Gothic Book"/>
              </a:defRPr>
            </a:pPr>
          </a:p>
        </p:txBody>
      </p:sp>
      <p:sp>
        <p:nvSpPr>
          <p:cNvPr id="196" name="Rectangle 9"/>
          <p:cNvSpPr/>
          <p:nvPr/>
        </p:nvSpPr>
        <p:spPr>
          <a:xfrm>
            <a:off x="16084294" y="907285"/>
            <a:ext cx="7406641" cy="197109"/>
          </a:xfrm>
          <a:prstGeom prst="rect">
            <a:avLst/>
          </a:prstGeom>
          <a:solidFill>
            <a:srgbClr val="969FA7"/>
          </a:solidFill>
          <a:ln w="12700">
            <a:miter lim="400000"/>
          </a:ln>
        </p:spPr>
        <p:txBody>
          <a:bodyPr tIns="91439" bIns="91439"/>
          <a:lstStyle/>
          <a:p>
            <a:pPr defTabSz="1828800">
              <a:lnSpc>
                <a:spcPct val="100000"/>
              </a:lnSpc>
              <a:spcBef>
                <a:spcPts val="0"/>
              </a:spcBef>
              <a:defRPr sz="3600">
                <a:latin typeface="Franklin Gothic Book"/>
                <a:ea typeface="Franklin Gothic Book"/>
                <a:cs typeface="Franklin Gothic Book"/>
                <a:sym typeface="Franklin Gothic Book"/>
              </a:defRPr>
            </a:pPr>
          </a:p>
        </p:txBody>
      </p:sp>
      <p:sp>
        <p:nvSpPr>
          <p:cNvPr id="197" name="Rectangle 10"/>
          <p:cNvSpPr/>
          <p:nvPr/>
        </p:nvSpPr>
        <p:spPr>
          <a:xfrm>
            <a:off x="8483659" y="914400"/>
            <a:ext cx="7406641" cy="182881"/>
          </a:xfrm>
          <a:prstGeom prst="rect">
            <a:avLst/>
          </a:prstGeom>
          <a:solidFill>
            <a:srgbClr val="1CADE4"/>
          </a:solidFill>
          <a:ln w="12700">
            <a:miter lim="400000"/>
          </a:ln>
        </p:spPr>
        <p:txBody>
          <a:bodyPr tIns="91439" bIns="91439"/>
          <a:lstStyle/>
          <a:p>
            <a:pPr defTabSz="1828800">
              <a:lnSpc>
                <a:spcPct val="100000"/>
              </a:lnSpc>
              <a:spcBef>
                <a:spcPts val="0"/>
              </a:spcBef>
              <a:defRPr sz="3600">
                <a:latin typeface="Franklin Gothic Book"/>
                <a:ea typeface="Franklin Gothic Book"/>
                <a:cs typeface="Franklin Gothic Book"/>
                <a:sym typeface="Franklin Gothic Book"/>
              </a:defRPr>
            </a:pPr>
          </a:p>
        </p:txBody>
      </p:sp>
      <p:pic>
        <p:nvPicPr>
          <p:cNvPr id="198" name="Picture 6" descr="Picture 6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0946611" y="11860945"/>
            <a:ext cx="2709687" cy="1078297"/>
          </a:xfrm>
          <a:prstGeom prst="rect">
            <a:avLst/>
          </a:prstGeom>
          <a:ln w="12700">
            <a:miter lim="400000"/>
          </a:ln>
        </p:spPr>
      </p:pic>
      <p:sp>
        <p:nvSpPr>
          <p:cNvPr id="199" name="Rectangle 6"/>
          <p:cNvSpPr/>
          <p:nvPr/>
        </p:nvSpPr>
        <p:spPr>
          <a:xfrm>
            <a:off x="893067" y="6171527"/>
            <a:ext cx="22597866" cy="6676299"/>
          </a:xfrm>
          <a:prstGeom prst="rect">
            <a:avLst/>
          </a:prstGeom>
          <a:solidFill>
            <a:srgbClr val="465359"/>
          </a:solidFill>
          <a:ln w="12700">
            <a:miter lim="400000"/>
          </a:ln>
        </p:spPr>
        <p:txBody>
          <a:bodyPr tIns="91439" bIns="91439"/>
          <a:lstStyle/>
          <a:p>
            <a:pPr defTabSz="1828800">
              <a:lnSpc>
                <a:spcPct val="100000"/>
              </a:lnSpc>
              <a:spcBef>
                <a:spcPts val="0"/>
              </a:spcBef>
              <a:defRPr sz="3600">
                <a:latin typeface="Franklin Gothic Book"/>
                <a:ea typeface="Franklin Gothic Book"/>
                <a:cs typeface="Franklin Gothic Book"/>
                <a:sym typeface="Franklin Gothic Book"/>
              </a:defRPr>
            </a:pPr>
          </a:p>
        </p:txBody>
      </p:sp>
      <p:sp>
        <p:nvSpPr>
          <p:cNvPr id="200" name="Title Text"/>
          <p:cNvSpPr txBox="1"/>
          <p:nvPr>
            <p:ph type="title"/>
          </p:nvPr>
        </p:nvSpPr>
        <p:spPr>
          <a:xfrm>
            <a:off x="1162381" y="2040862"/>
            <a:ext cx="21987100" cy="2950026"/>
          </a:xfrm>
          <a:prstGeom prst="rect">
            <a:avLst/>
          </a:prstGeom>
        </p:spPr>
        <p:txBody>
          <a:bodyPr lIns="91439" tIns="91439" rIns="91439" bIns="91439" anchor="b"/>
          <a:lstStyle>
            <a:lvl1pPr defTabSz="914400">
              <a:lnSpc>
                <a:spcPct val="100000"/>
              </a:lnSpc>
              <a:defRPr cap="all" spc="0" sz="7200">
                <a:solidFill>
                  <a:srgbClr val="404040"/>
                </a:solidFill>
                <a:latin typeface="Franklin Gothic Demi"/>
                <a:ea typeface="Franklin Gothic Demi"/>
                <a:cs typeface="Franklin Gothic Demi"/>
                <a:sym typeface="Franklin Gothic Demi"/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201" name="Body Level One…"/>
          <p:cNvSpPr txBox="1"/>
          <p:nvPr>
            <p:ph type="body" sz="quarter" idx="1"/>
          </p:nvPr>
        </p:nvSpPr>
        <p:spPr>
          <a:xfrm>
            <a:off x="1162387" y="4990889"/>
            <a:ext cx="21987094" cy="1180643"/>
          </a:xfrm>
          <a:prstGeom prst="rect">
            <a:avLst/>
          </a:prstGeom>
        </p:spPr>
        <p:txBody>
          <a:bodyPr lIns="91439" tIns="91439" rIns="91439" bIns="91439"/>
          <a:lstStyle>
            <a:lvl1pPr marL="0" indent="0" defTabSz="914400">
              <a:lnSpc>
                <a:spcPct val="110000"/>
              </a:lnSpc>
              <a:spcBef>
                <a:spcPts val="1200"/>
              </a:spcBef>
              <a:buSzTx/>
              <a:buNone/>
              <a:defRPr cap="all" sz="3200">
                <a:solidFill>
                  <a:srgbClr val="1CADE4"/>
                </a:solidFill>
                <a:latin typeface="Franklin Gothic Book"/>
                <a:ea typeface="Franklin Gothic Book"/>
                <a:cs typeface="Franklin Gothic Book"/>
                <a:sym typeface="Franklin Gothic Book"/>
              </a:defRPr>
            </a:lvl1pPr>
            <a:lvl2pPr marL="0" indent="457200" defTabSz="914400">
              <a:lnSpc>
                <a:spcPct val="110000"/>
              </a:lnSpc>
              <a:spcBef>
                <a:spcPts val="1200"/>
              </a:spcBef>
              <a:buSzTx/>
              <a:buNone/>
              <a:defRPr cap="all" sz="3200">
                <a:solidFill>
                  <a:srgbClr val="1CADE4"/>
                </a:solidFill>
                <a:latin typeface="Franklin Gothic Book"/>
                <a:ea typeface="Franklin Gothic Book"/>
                <a:cs typeface="Franklin Gothic Book"/>
                <a:sym typeface="Franklin Gothic Book"/>
              </a:defRPr>
            </a:lvl2pPr>
            <a:lvl3pPr marL="0" indent="914400" defTabSz="914400">
              <a:lnSpc>
                <a:spcPct val="110000"/>
              </a:lnSpc>
              <a:spcBef>
                <a:spcPts val="1200"/>
              </a:spcBef>
              <a:buSzTx/>
              <a:buNone/>
              <a:defRPr cap="all" sz="3200">
                <a:solidFill>
                  <a:srgbClr val="1CADE4"/>
                </a:solidFill>
                <a:latin typeface="Franklin Gothic Book"/>
                <a:ea typeface="Franklin Gothic Book"/>
                <a:cs typeface="Franklin Gothic Book"/>
                <a:sym typeface="Franklin Gothic Book"/>
              </a:defRPr>
            </a:lvl3pPr>
            <a:lvl4pPr marL="0" indent="1371600" defTabSz="914400">
              <a:lnSpc>
                <a:spcPct val="110000"/>
              </a:lnSpc>
              <a:spcBef>
                <a:spcPts val="1200"/>
              </a:spcBef>
              <a:buSzTx/>
              <a:buNone/>
              <a:defRPr cap="all" sz="3200">
                <a:solidFill>
                  <a:srgbClr val="1CADE4"/>
                </a:solidFill>
                <a:latin typeface="Franklin Gothic Book"/>
                <a:ea typeface="Franklin Gothic Book"/>
                <a:cs typeface="Franklin Gothic Book"/>
                <a:sym typeface="Franklin Gothic Book"/>
              </a:defRPr>
            </a:lvl4pPr>
            <a:lvl5pPr marL="0" indent="1828800" defTabSz="914400">
              <a:lnSpc>
                <a:spcPct val="110000"/>
              </a:lnSpc>
              <a:spcBef>
                <a:spcPts val="1200"/>
              </a:spcBef>
              <a:buSzTx/>
              <a:buNone/>
              <a:defRPr cap="all" sz="3200">
                <a:solidFill>
                  <a:srgbClr val="1CADE4"/>
                </a:solidFill>
                <a:latin typeface="Franklin Gothic Book"/>
                <a:ea typeface="Franklin Gothic Book"/>
                <a:cs typeface="Franklin Gothic Book"/>
                <a:sym typeface="Franklin Gothic Book"/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02" name="Slide Number"/>
          <p:cNvSpPr txBox="1"/>
          <p:nvPr>
            <p:ph type="sldNum" sz="quarter" idx="2"/>
          </p:nvPr>
        </p:nvSpPr>
        <p:spPr>
          <a:xfrm>
            <a:off x="22771836" y="12985013"/>
            <a:ext cx="449784" cy="455880"/>
          </a:xfrm>
          <a:prstGeom prst="rect">
            <a:avLst/>
          </a:prstGeom>
        </p:spPr>
        <p:txBody>
          <a:bodyPr lIns="91439" tIns="91439" rIns="91439" bIns="91439" anchor="ctr"/>
          <a:lstStyle>
            <a:lvl1pPr algn="r" defTabSz="1828800">
              <a:defRPr>
                <a:solidFill>
                  <a:srgbClr val="404040"/>
                </a:solidFill>
                <a:latin typeface="Franklin Gothic Book"/>
                <a:ea typeface="Franklin Gothic Book"/>
                <a:cs typeface="Franklin Gothic Book"/>
                <a:sym typeface="Franklin Gothic Book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>
            <p:ph type="title" hasCustomPrompt="1"/>
          </p:nvPr>
        </p:nvSpPr>
        <p:spPr>
          <a:xfrm>
            <a:off x="1206500" y="952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Slide Title</a:t>
            </a:r>
          </a:p>
        </p:txBody>
      </p:sp>
      <p:sp>
        <p:nvSpPr>
          <p:cNvPr id="3" name="Body Level One…"/>
          <p:cNvSpPr txBox="1"/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algn="ctr" defTabSz="584200">
              <a:lnSpc>
                <a:spcPct val="100000"/>
              </a:lnSpc>
              <a:spcBef>
                <a:spcPts val="0"/>
              </a:spcBef>
              <a:defRPr sz="18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</p:sldLayoutIdLst>
  <p:transition xmlns:p14="http://schemas.microsoft.com/office/powerpoint/2010/main" spd="med" advClick="1"/>
  <p:txStyles>
    <p:titleStyle>
      <a:lvl1pPr marL="0" marR="0" indent="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chemeClr val="accent1">
              <a:hueOff val="114395"/>
              <a:lumOff val="-24975"/>
            </a:schemeClr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chemeClr val="accent1">
              <a:hueOff val="114395"/>
              <a:lumOff val="-24975"/>
            </a:schemeClr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chemeClr val="accent1">
              <a:hueOff val="114395"/>
              <a:lumOff val="-24975"/>
            </a:schemeClr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chemeClr val="accent1">
              <a:hueOff val="114395"/>
              <a:lumOff val="-24975"/>
            </a:schemeClr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chemeClr val="accent1">
              <a:hueOff val="114395"/>
              <a:lumOff val="-24975"/>
            </a:schemeClr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chemeClr val="accent1">
              <a:hueOff val="114395"/>
              <a:lumOff val="-24975"/>
            </a:schemeClr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chemeClr val="accent1">
              <a:hueOff val="114395"/>
              <a:lumOff val="-24975"/>
            </a:schemeClr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chemeClr val="accent1">
              <a:hueOff val="114395"/>
              <a:lumOff val="-24975"/>
            </a:schemeClr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chemeClr val="accent1">
              <a:hueOff val="114395"/>
              <a:lumOff val="-24975"/>
            </a:schemeClr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1219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1828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2438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30480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3657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1.png"/><Relationship Id="rId3" Type="http://schemas.openxmlformats.org/officeDocument/2006/relationships/image" Target="../media/image2.jpe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9.png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colab.research.google.com/drive/179vp7RlKPu-8kDVgXJo4ARmOYP4w02aO#scrollTo=69a9e17a" TargetMode="Externa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0.png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6.png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colab.research.google.com/drive/1F0SNYtuqqcJHzrjYXX62KGGoc-v-VePl#scrollTo=H5Gk682T7FQI" TargetMode="External"/><Relationship Id="rId3" Type="http://schemas.openxmlformats.org/officeDocument/2006/relationships/hyperlink" Target="https://colab.research.google.com/drive/1nzF3azRRvtFONjigEQ1O2qzr5AGCMX_U#scrollTo=Cq9_xFg9zgIP" TargetMode="External"/><Relationship Id="rId4" Type="http://schemas.openxmlformats.org/officeDocument/2006/relationships/hyperlink" Target="https://colab.research.google.com/drive/1m3T5CZOsrUdI5b4rnDDm4vekRrTL_hmg" TargetMode="Externa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Author and Date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12" name="NumPy Tools for Data Science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NumPy Tools for Data Science</a:t>
            </a:r>
          </a:p>
        </p:txBody>
      </p:sp>
      <p:sp>
        <p:nvSpPr>
          <p:cNvPr id="213" name="NumPy, vectorization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NumPy, vectorization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Upcoming Assignments</a:t>
            </a:r>
          </a:p>
        </p:txBody>
      </p:sp>
      <p:sp>
        <p:nvSpPr>
          <p:cNvPr id="216" name="Slide Subtitle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17" name="Content Placeholder 2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611999" indent="-611999">
              <a:spcBef>
                <a:spcPts val="1100"/>
              </a:spcBef>
            </a:pPr>
            <a:r>
              <a:t>Reading: 2.1 – 2.5</a:t>
            </a:r>
          </a:p>
          <a:p>
            <a:pPr marL="611999" indent="-611999">
              <a:spcBef>
                <a:spcPts val="1100"/>
              </a:spcBef>
            </a:pPr>
            <a:r>
              <a:t>DS Lab 2: Vectorization due Jan 17</a:t>
            </a:r>
            <a:r>
              <a:rPr baseline="31000"/>
              <a:t>th</a:t>
            </a:r>
            <a:r>
              <a:t> 11:59 pm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Slide Subtitle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20" name="Content Placeholder 4"/>
          <p:cNvSpPr txBox="1"/>
          <p:nvPr/>
        </p:nvSpPr>
        <p:spPr>
          <a:xfrm>
            <a:off x="11986376" y="2320436"/>
            <a:ext cx="11198745" cy="2642312"/>
          </a:xfrm>
          <a:prstGeom prst="rect">
            <a:avLst/>
          </a:prstGeom>
          <a:solidFill>
            <a:srgbClr val="F2F2F2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tIns="91439" bIns="91439" anchor="ctr">
            <a:spAutoFit/>
          </a:bodyPr>
          <a:lstStyle/>
          <a:p>
            <a:pPr defTabSz="914400">
              <a:lnSpc>
                <a:spcPct val="100000"/>
              </a:lnSpc>
              <a:spcBef>
                <a:spcPts val="1200"/>
              </a:spcBef>
              <a:defRPr>
                <a:solidFill>
                  <a:srgbClr val="404040"/>
                </a:solidFill>
                <a:latin typeface="Franklin Gothic Book"/>
                <a:ea typeface="Franklin Gothic Book"/>
                <a:cs typeface="Franklin Gothic Book"/>
                <a:sym typeface="Franklin Gothic Book"/>
              </a:defRPr>
            </a:pPr>
            <a:r>
              <a:t>Tim Kapp</a:t>
            </a:r>
          </a:p>
          <a:p>
            <a:pPr defTabSz="914400">
              <a:lnSpc>
                <a:spcPct val="100000"/>
              </a:lnSpc>
              <a:spcBef>
                <a:spcPts val="1200"/>
              </a:spcBef>
              <a:defRPr>
                <a:solidFill>
                  <a:srgbClr val="404040"/>
                </a:solidFill>
                <a:latin typeface="Franklin Gothic Book"/>
                <a:ea typeface="Franklin Gothic Book"/>
                <a:cs typeface="Franklin Gothic Book"/>
                <a:sym typeface="Franklin Gothic Book"/>
              </a:defRPr>
            </a:pPr>
            <a:r>
              <a:t>tkapp@byu.edu</a:t>
            </a:r>
          </a:p>
          <a:p>
            <a:pPr defTabSz="914400">
              <a:lnSpc>
                <a:spcPct val="100000"/>
              </a:lnSpc>
              <a:spcBef>
                <a:spcPts val="1200"/>
              </a:spcBef>
              <a:defRPr>
                <a:solidFill>
                  <a:srgbClr val="404040"/>
                </a:solidFill>
                <a:latin typeface="Franklin Gothic Book"/>
                <a:ea typeface="Franklin Gothic Book"/>
                <a:cs typeface="Franklin Gothic Book"/>
                <a:sym typeface="Franklin Gothic Book"/>
              </a:defRPr>
            </a:pPr>
            <a:r>
              <a:t>TMCB 2254 — By Appointment</a:t>
            </a:r>
          </a:p>
        </p:txBody>
      </p:sp>
      <p:sp>
        <p:nvSpPr>
          <p:cNvPr id="221" name="TextBox 3"/>
          <p:cNvSpPr txBox="1"/>
          <p:nvPr/>
        </p:nvSpPr>
        <p:spPr>
          <a:xfrm>
            <a:off x="11986374" y="5486945"/>
            <a:ext cx="11198749" cy="6696457"/>
          </a:xfrm>
          <a:prstGeom prst="rect">
            <a:avLst/>
          </a:prstGeom>
          <a:solidFill>
            <a:srgbClr val="F2F2F2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tIns="91439" bIns="91439">
            <a:spAutoFit/>
          </a:bodyPr>
          <a:lstStyle/>
          <a:p>
            <a:pPr defTabSz="1828800">
              <a:lnSpc>
                <a:spcPct val="100000"/>
              </a:lnSpc>
              <a:spcBef>
                <a:spcPts val="1200"/>
              </a:spcBef>
              <a:defRPr b="1" sz="4000">
                <a:latin typeface="Franklin Gothic Book"/>
                <a:ea typeface="Franklin Gothic Book"/>
                <a:cs typeface="Franklin Gothic Book"/>
                <a:sym typeface="Franklin Gothic Book"/>
              </a:defRPr>
            </a:pPr>
            <a:r>
              <a:t>Teaching Assistants:</a:t>
            </a:r>
          </a:p>
          <a:p>
            <a:pPr marL="685800" indent="-685800" defTabSz="1828800">
              <a:lnSpc>
                <a:spcPct val="100000"/>
              </a:lnSpc>
              <a:spcBef>
                <a:spcPts val="1200"/>
              </a:spcBef>
              <a:buSzPct val="100000"/>
              <a:buFont typeface="Arial"/>
              <a:buChar char="•"/>
              <a:defRPr sz="4000">
                <a:latin typeface="Franklin Gothic Book"/>
                <a:ea typeface="Franklin Gothic Book"/>
                <a:cs typeface="Franklin Gothic Book"/>
                <a:sym typeface="Franklin Gothic Book"/>
              </a:defRPr>
            </a:pPr>
            <a:r>
              <a:t>Kayla Ou -- ouj22@byu.edu</a:t>
            </a:r>
          </a:p>
          <a:p>
            <a:pPr marL="685800" indent="-685800" defTabSz="1828800">
              <a:lnSpc>
                <a:spcPct val="100000"/>
              </a:lnSpc>
              <a:spcBef>
                <a:spcPts val="1200"/>
              </a:spcBef>
              <a:buSzPct val="100000"/>
              <a:buFont typeface="Arial"/>
              <a:buChar char="•"/>
              <a:defRPr sz="4000">
                <a:latin typeface="Franklin Gothic Book"/>
                <a:ea typeface="Franklin Gothic Book"/>
                <a:cs typeface="Franklin Gothic Book"/>
                <a:sym typeface="Franklin Gothic Book"/>
              </a:defRPr>
            </a:pPr>
            <a:r>
              <a:t>Spencer Hales — srhales@byu.edu</a:t>
            </a:r>
          </a:p>
          <a:p>
            <a:pPr marL="685800" indent="-685800" defTabSz="1828800">
              <a:lnSpc>
                <a:spcPct val="100000"/>
              </a:lnSpc>
              <a:spcBef>
                <a:spcPts val="1200"/>
              </a:spcBef>
              <a:buSzPct val="100000"/>
              <a:buFont typeface="Arial"/>
              <a:buChar char="•"/>
              <a:defRPr sz="4000">
                <a:latin typeface="Franklin Gothic Book"/>
                <a:ea typeface="Franklin Gothic Book"/>
                <a:cs typeface="Franklin Gothic Book"/>
                <a:sym typeface="Franklin Gothic Book"/>
              </a:defRPr>
            </a:pPr>
            <a:r>
              <a:t>Spencer Marshall — sm892@byu.edu</a:t>
            </a:r>
          </a:p>
          <a:p>
            <a:pPr marL="685800" indent="-685800" defTabSz="1828800">
              <a:lnSpc>
                <a:spcPct val="100000"/>
              </a:lnSpc>
              <a:spcBef>
                <a:spcPts val="1200"/>
              </a:spcBef>
              <a:buSzPct val="100000"/>
              <a:buFont typeface="Arial"/>
              <a:buChar char="•"/>
              <a:defRPr sz="4000">
                <a:latin typeface="Franklin Gothic Book"/>
                <a:ea typeface="Franklin Gothic Book"/>
                <a:cs typeface="Franklin Gothic Book"/>
                <a:sym typeface="Franklin Gothic Book"/>
              </a:defRPr>
            </a:pPr>
            <a:r>
              <a:t>Michael Jensen — mikelj01@student.byu.edu</a:t>
            </a:r>
          </a:p>
          <a:p>
            <a:pPr marL="685800" indent="-685800" defTabSz="1828800">
              <a:lnSpc>
                <a:spcPct val="100000"/>
              </a:lnSpc>
              <a:spcBef>
                <a:spcPts val="1200"/>
              </a:spcBef>
              <a:buSzPct val="100000"/>
              <a:buFont typeface="Arial"/>
              <a:buChar char="•"/>
              <a:defRPr sz="4000">
                <a:latin typeface="Franklin Gothic Book"/>
                <a:ea typeface="Franklin Gothic Book"/>
                <a:cs typeface="Franklin Gothic Book"/>
                <a:sym typeface="Franklin Gothic Book"/>
              </a:defRPr>
            </a:pPr>
            <a:r>
              <a:t>Toby Alley — talley0@byu.edu</a:t>
            </a:r>
          </a:p>
          <a:p>
            <a:pPr defTabSz="1828800">
              <a:lnSpc>
                <a:spcPct val="100000"/>
              </a:lnSpc>
              <a:spcBef>
                <a:spcPts val="0"/>
              </a:spcBef>
              <a:defRPr>
                <a:latin typeface="Franklin Gothic Book"/>
                <a:ea typeface="Franklin Gothic Book"/>
                <a:cs typeface="Franklin Gothic Book"/>
                <a:sym typeface="Franklin Gothic Book"/>
              </a:defRPr>
            </a:pPr>
          </a:p>
          <a:p>
            <a:pPr defTabSz="1828800">
              <a:lnSpc>
                <a:spcPct val="100000"/>
              </a:lnSpc>
              <a:spcBef>
                <a:spcPts val="0"/>
              </a:spcBef>
              <a:defRPr sz="4000">
                <a:latin typeface="Franklin Gothic Book"/>
                <a:ea typeface="Franklin Gothic Book"/>
                <a:cs typeface="Franklin Gothic Book"/>
                <a:sym typeface="Franklin Gothic Book"/>
              </a:defRPr>
            </a:pPr>
            <a:r>
              <a:t>West View Building (WVB 1151)</a:t>
            </a:r>
          </a:p>
          <a:p>
            <a:pPr defTabSz="1828800">
              <a:lnSpc>
                <a:spcPct val="100000"/>
              </a:lnSpc>
              <a:spcBef>
                <a:spcPts val="0"/>
              </a:spcBef>
              <a:defRPr sz="4000">
                <a:latin typeface="Franklin Gothic Book"/>
                <a:ea typeface="Franklin Gothic Book"/>
                <a:cs typeface="Franklin Gothic Book"/>
                <a:sym typeface="Franklin Gothic Book"/>
              </a:defRPr>
            </a:pPr>
            <a:r>
              <a:t>Office Hours: See Syllabus on Canvas</a:t>
            </a:r>
          </a:p>
        </p:txBody>
      </p:sp>
      <p:sp>
        <p:nvSpPr>
          <p:cNvPr id="222" name="Content Placeholder 7"/>
          <p:cNvSpPr txBox="1"/>
          <p:nvPr>
            <p:ph type="body" sz="half" idx="1"/>
          </p:nvPr>
        </p:nvSpPr>
        <p:spPr>
          <a:prstGeom prst="rect">
            <a:avLst/>
          </a:prstGeom>
        </p:spPr>
        <p:txBody>
          <a:bodyPr/>
          <a:lstStyle/>
          <a:p>
            <a:pPr marL="611999" indent="-611999">
              <a:spcBef>
                <a:spcPts val="1100"/>
              </a:spcBef>
            </a:pPr>
            <a:r>
              <a:t>NumPy Broadcasting</a:t>
            </a:r>
          </a:p>
          <a:p>
            <a:pPr marL="611999" indent="-611999">
              <a:spcBef>
                <a:spcPts val="1100"/>
              </a:spcBef>
            </a:pPr>
            <a:r>
              <a:t>Array Slicing</a:t>
            </a:r>
          </a:p>
          <a:p>
            <a:pPr marL="611999" indent="-611999">
              <a:spcBef>
                <a:spcPts val="1100"/>
              </a:spcBef>
            </a:pPr>
            <a:r>
              <a:t>Linear Algebra with np</a:t>
            </a:r>
          </a:p>
          <a:p>
            <a:pPr marL="611999" indent="-611999">
              <a:spcBef>
                <a:spcPts val="1100"/>
              </a:spcBef>
            </a:pPr>
            <a:r>
              <a:t>Vector vs Non-Vector Operations</a:t>
            </a:r>
          </a:p>
        </p:txBody>
      </p:sp>
      <p:sp>
        <p:nvSpPr>
          <p:cNvPr id="223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Today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1948" y="-42452"/>
            <a:ext cx="24846779" cy="16230908"/>
          </a:xfrm>
          <a:prstGeom prst="rect">
            <a:avLst/>
          </a:prstGeom>
          <a:ln w="12700">
            <a:miter lim="400000"/>
          </a:ln>
        </p:spPr>
      </p:pic>
      <p:pic>
        <p:nvPicPr>
          <p:cNvPr id="226" name="Picture 2" descr="Picture 2"/>
          <p:cNvPicPr>
            <a:picLocks noChangeAspect="1"/>
          </p:cNvPicPr>
          <p:nvPr/>
        </p:nvPicPr>
        <p:blipFill>
          <a:blip r:embed="rId3">
            <a:extLst/>
          </a:blip>
          <a:srcRect l="0" t="0" r="17170" b="0"/>
          <a:stretch>
            <a:fillRect/>
          </a:stretch>
        </p:blipFill>
        <p:spPr>
          <a:xfrm>
            <a:off x="15689375" y="4256328"/>
            <a:ext cx="7490009" cy="4660245"/>
          </a:xfrm>
          <a:prstGeom prst="rect">
            <a:avLst/>
          </a:prstGeom>
          <a:ln w="12700">
            <a:miter lim="400000"/>
          </a:ln>
        </p:spPr>
      </p:pic>
      <p:sp>
        <p:nvSpPr>
          <p:cNvPr id="227" name="Line"/>
          <p:cNvSpPr/>
          <p:nvPr/>
        </p:nvSpPr>
        <p:spPr>
          <a:xfrm flipH="1" flipV="1">
            <a:off x="8648122" y="1812858"/>
            <a:ext cx="7046832" cy="4595829"/>
          </a:xfrm>
          <a:prstGeom prst="line">
            <a:avLst/>
          </a:prstGeom>
          <a:ln w="152400">
            <a:solidFill>
              <a:schemeClr val="accent4">
                <a:hueOff val="-476017"/>
                <a:lumOff val="-10042"/>
              </a:schemeClr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ID="10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7" dur="500"/>
                                        <p:tgtEl>
                                          <p:spTgt spid="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226" grpId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Slide Subtitle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30" name="Content Placeholder 2"/>
          <p:cNvSpPr txBox="1"/>
          <p:nvPr>
            <p:ph type="body" sz="half" idx="1"/>
          </p:nvPr>
        </p:nvSpPr>
        <p:spPr>
          <a:prstGeom prst="rect">
            <a:avLst/>
          </a:prstGeom>
        </p:spPr>
        <p:txBody>
          <a:bodyPr/>
          <a:lstStyle/>
          <a:p>
            <a:pPr marL="563040" indent="-563040" defTabSz="2243271">
              <a:lnSpc>
                <a:spcPct val="99000"/>
              </a:lnSpc>
              <a:spcBef>
                <a:spcPts val="900"/>
              </a:spcBef>
              <a:defRPr b="1" sz="4048"/>
            </a:pPr>
            <a:r>
              <a:t>Broadcasting allows NumPy to perform operations on arrays with different shapes by “virtually” expanding dimensions</a:t>
            </a:r>
            <a:endParaRPr sz="2760"/>
          </a:p>
          <a:p>
            <a:pPr marL="563040" indent="-563040" defTabSz="2243271">
              <a:lnSpc>
                <a:spcPct val="99000"/>
              </a:lnSpc>
              <a:spcBef>
                <a:spcPts val="900"/>
              </a:spcBef>
              <a:defRPr sz="4048"/>
            </a:pPr>
            <a:r>
              <a:t>Compatibility Rules: </a:t>
            </a:r>
            <a:endParaRPr sz="2760"/>
          </a:p>
          <a:p>
            <a:pPr lvl="1" marL="1431290" indent="-613409" defTabSz="2243271">
              <a:spcBef>
                <a:spcPts val="700"/>
              </a:spcBef>
              <a:buSzPct val="100000"/>
              <a:buAutoNum type="arabicPeriod" startAt="1"/>
              <a:defRPr sz="3312"/>
            </a:pPr>
            <a:r>
              <a:t>Dimensions have the same size, or</a:t>
            </a:r>
            <a:endParaRPr sz="2208"/>
          </a:p>
          <a:p>
            <a:pPr lvl="1" marL="1431290" indent="-613409" defTabSz="2243271">
              <a:spcBef>
                <a:spcPts val="700"/>
              </a:spcBef>
              <a:buSzPct val="100000"/>
              <a:buAutoNum type="arabicPeriod" startAt="1"/>
              <a:defRPr sz="3312"/>
            </a:pPr>
            <a:r>
              <a:t>One of the dimensions has a size of 1. </a:t>
            </a:r>
            <a:endParaRPr sz="2208"/>
          </a:p>
          <a:p>
            <a:pPr marL="563040" indent="-563040" defTabSz="2243271">
              <a:lnSpc>
                <a:spcPct val="99000"/>
              </a:lnSpc>
              <a:spcBef>
                <a:spcPts val="900"/>
              </a:spcBef>
              <a:defRPr sz="3864"/>
            </a:pPr>
            <a:r>
              <a:t>If compatible, replicate the smaller dimension array to match the larger array.</a:t>
            </a:r>
            <a:endParaRPr sz="2760"/>
          </a:p>
          <a:p>
            <a:pPr marL="563040" indent="-563040" defTabSz="2243271">
              <a:lnSpc>
                <a:spcPct val="99000"/>
              </a:lnSpc>
              <a:spcBef>
                <a:spcPts val="900"/>
              </a:spcBef>
              <a:defRPr sz="3864"/>
            </a:pPr>
            <a:r>
              <a:t>If one array has fewer dimensions, prepend 1s to its shape to match</a:t>
            </a:r>
            <a:endParaRPr sz="2760"/>
          </a:p>
          <a:p>
            <a:pPr marL="563040" indent="-563040" defTabSz="2243271">
              <a:lnSpc>
                <a:spcPct val="99000"/>
              </a:lnSpc>
              <a:spcBef>
                <a:spcPts val="900"/>
              </a:spcBef>
              <a:defRPr sz="3864"/>
            </a:pPr>
            <a:r>
              <a:t>If, after alignment, any mismatch remains, then broadcasting fails. </a:t>
            </a:r>
          </a:p>
        </p:txBody>
      </p:sp>
      <p:sp>
        <p:nvSpPr>
          <p:cNvPr id="231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1755604">
              <a:defRPr spc="-122" sz="6120"/>
            </a:lvl1pPr>
          </a:lstStyle>
          <a:p>
            <a:pPr/>
            <a:r>
              <a:t>NumPy Array Broadcasting</a:t>
            </a:r>
          </a:p>
        </p:txBody>
      </p:sp>
      <p:pic>
        <p:nvPicPr>
          <p:cNvPr id="232" name="Picture 5" descr="Picture 5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4046925" y="1954485"/>
            <a:ext cx="5778501" cy="2590801"/>
          </a:xfrm>
          <a:prstGeom prst="rect">
            <a:avLst/>
          </a:prstGeom>
          <a:ln w="12700">
            <a:miter lim="400000"/>
          </a:ln>
        </p:spPr>
      </p:pic>
      <p:pic>
        <p:nvPicPr>
          <p:cNvPr id="233" name="Picture 6" descr="Picture 6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4369144" y="5095459"/>
            <a:ext cx="4357553" cy="2289561"/>
          </a:xfrm>
          <a:prstGeom prst="rect">
            <a:avLst/>
          </a:prstGeom>
          <a:ln w="12700">
            <a:miter lim="400000"/>
          </a:ln>
        </p:spPr>
      </p:pic>
      <p:pic>
        <p:nvPicPr>
          <p:cNvPr id="234" name="Picture 7" descr="Picture 7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4369144" y="7935193"/>
            <a:ext cx="4710335" cy="386093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ID="10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3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7" dur="500"/>
                                        <p:tgtEl>
                                          <p:spTgt spid="23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Class="entr" nodeType="withEffect" presetSubtype="0" presetID="10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" fill="hold"/>
                                        <p:tgtEl>
                                          <p:spTgt spid="2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0" dur="500"/>
                                        <p:tgtEl>
                                          <p:spTgt spid="2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Class="entr" nodeType="clickEffect" presetID="10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2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5" dur="500"/>
                                        <p:tgtEl>
                                          <p:spTgt spid="2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Class="entr" nodeType="withEffect" presetSubtype="0" presetID="10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7" fill="hold"/>
                                        <p:tgtEl>
                                          <p:spTgt spid="2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8" dur="500"/>
                                        <p:tgtEl>
                                          <p:spTgt spid="2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Class="entr" nodeType="withEffect" presetSubtype="0" presetID="10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2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21" dur="500"/>
                                        <p:tgtEl>
                                          <p:spTgt spid="2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Class="entr" nodeType="clickEffect" presetID="10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5" fill="hold"/>
                                        <p:tgtEl>
                                          <p:spTgt spid="2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26" dur="500"/>
                                        <p:tgtEl>
                                          <p:spTgt spid="2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Class="entr" nodeType="clickEffect" presetID="10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0" fill="hold"/>
                                        <p:tgtEl>
                                          <p:spTgt spid="23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31" dur="500"/>
                                        <p:tgtEl>
                                          <p:spTgt spid="23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Class="entr" nodeType="clickEffect" presetID="10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5" fill="hold"/>
                                        <p:tgtEl>
                                          <p:spTgt spid="23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36" dur="500"/>
                                        <p:tgtEl>
                                          <p:spTgt spid="23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p" bldLvl="1" animBg="1" rev="0" advAuto="0" spid="230" grpId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1755604">
              <a:defRPr spc="-122" sz="6120"/>
            </a:lvl1pPr>
          </a:lstStyle>
          <a:p>
            <a:pPr/>
            <a:r>
              <a:t>NumPy Array Broadcasting</a:t>
            </a:r>
          </a:p>
        </p:txBody>
      </p:sp>
      <p:sp>
        <p:nvSpPr>
          <p:cNvPr id="237" name="TextBox 7"/>
          <p:cNvSpPr txBox="1"/>
          <p:nvPr/>
        </p:nvSpPr>
        <p:spPr>
          <a:xfrm>
            <a:off x="1253822" y="3215930"/>
            <a:ext cx="13755398" cy="18244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tIns="91439" bIns="91439">
            <a:spAutoFit/>
          </a:bodyPr>
          <a:lstStyle/>
          <a:p>
            <a:pPr defTabSz="1828800">
              <a:lnSpc>
                <a:spcPct val="100000"/>
              </a:lnSpc>
              <a:spcBef>
                <a:spcPts val="0"/>
              </a:spcBef>
              <a:defRPr b="1" sz="3600">
                <a:latin typeface="Franklin Gothic Book"/>
                <a:ea typeface="Franklin Gothic Book"/>
                <a:cs typeface="Franklin Gothic Book"/>
                <a:sym typeface="Franklin Gothic Book"/>
              </a:defRPr>
            </a:pPr>
            <a:r>
              <a:t>1. Same Shape → Elementwise Operations</a:t>
            </a:r>
          </a:p>
          <a:p>
            <a:pPr defTabSz="1828800">
              <a:lnSpc>
                <a:spcPct val="100000"/>
              </a:lnSpc>
              <a:spcBef>
                <a:spcPts val="0"/>
              </a:spcBef>
              <a:defRPr sz="3600">
                <a:latin typeface="Franklin Gothic Book"/>
                <a:ea typeface="Franklin Gothic Book"/>
                <a:cs typeface="Franklin Gothic Book"/>
                <a:sym typeface="Franklin Gothic Book"/>
              </a:defRPr>
            </a:pPr>
            <a:r>
              <a:t>If two arrays have the same shape, operations are applied element by element.</a:t>
            </a:r>
          </a:p>
        </p:txBody>
      </p:sp>
      <p:pic>
        <p:nvPicPr>
          <p:cNvPr id="238" name="Picture 8" descr="Picture 8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5515538" y="1404311"/>
            <a:ext cx="5601063" cy="3294743"/>
          </a:xfrm>
          <a:prstGeom prst="rect">
            <a:avLst/>
          </a:prstGeom>
          <a:ln w="12700">
            <a:miter lim="400000"/>
          </a:ln>
        </p:spPr>
      </p:pic>
      <p:sp>
        <p:nvSpPr>
          <p:cNvPr id="239" name="TextBox 10"/>
          <p:cNvSpPr txBox="1"/>
          <p:nvPr/>
        </p:nvSpPr>
        <p:spPr>
          <a:xfrm>
            <a:off x="1253822" y="5233568"/>
            <a:ext cx="13755398" cy="18210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tIns="91439" bIns="91439">
            <a:spAutoFit/>
          </a:bodyPr>
          <a:lstStyle/>
          <a:p>
            <a:pPr defTabSz="1828800">
              <a:lnSpc>
                <a:spcPct val="100000"/>
              </a:lnSpc>
              <a:spcBef>
                <a:spcPts val="0"/>
              </a:spcBef>
              <a:defRPr b="1" sz="3600">
                <a:latin typeface="Franklin Gothic Book"/>
                <a:ea typeface="Franklin Gothic Book"/>
                <a:cs typeface="Franklin Gothic Book"/>
                <a:sym typeface="Franklin Gothic Book"/>
              </a:defRPr>
            </a:pPr>
            <a:r>
              <a:t>2. Scalar with Array</a:t>
            </a:r>
          </a:p>
          <a:p>
            <a:pPr defTabSz="1828800">
              <a:lnSpc>
                <a:spcPct val="100000"/>
              </a:lnSpc>
              <a:spcBef>
                <a:spcPts val="0"/>
              </a:spcBef>
              <a:defRPr sz="3600">
                <a:latin typeface="Franklin Gothic Book"/>
                <a:ea typeface="Franklin Gothic Book"/>
                <a:cs typeface="Franklin Gothic Book"/>
                <a:sym typeface="Franklin Gothic Book"/>
              </a:defRPr>
            </a:pPr>
            <a:r>
              <a:t>A scalar is treated as an array of the same shape as the other operand.</a:t>
            </a:r>
          </a:p>
        </p:txBody>
      </p:sp>
      <p:pic>
        <p:nvPicPr>
          <p:cNvPr id="240" name="Picture 11" descr="Picture 1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5491823" y="5064255"/>
            <a:ext cx="5119917" cy="1919970"/>
          </a:xfrm>
          <a:prstGeom prst="rect">
            <a:avLst/>
          </a:prstGeom>
          <a:ln w="12700">
            <a:miter lim="400000"/>
          </a:ln>
        </p:spPr>
      </p:pic>
      <p:sp>
        <p:nvSpPr>
          <p:cNvPr id="241" name="TextBox 13"/>
          <p:cNvSpPr txBox="1"/>
          <p:nvPr/>
        </p:nvSpPr>
        <p:spPr>
          <a:xfrm>
            <a:off x="1253822" y="7235404"/>
            <a:ext cx="13755398" cy="184601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tIns="91439" bIns="91439">
            <a:spAutoFit/>
          </a:bodyPr>
          <a:lstStyle/>
          <a:p>
            <a:pPr defTabSz="1828800">
              <a:lnSpc>
                <a:spcPct val="100000"/>
              </a:lnSpc>
              <a:spcBef>
                <a:spcPts val="0"/>
              </a:spcBef>
              <a:defRPr b="1" sz="3600">
                <a:latin typeface="Franklin Gothic Book"/>
                <a:ea typeface="Franklin Gothic Book"/>
                <a:cs typeface="Franklin Gothic Book"/>
                <a:sym typeface="Franklin Gothic Book"/>
              </a:defRPr>
            </a:pPr>
            <a:r>
              <a:t>3. Different Shapes with Compatible Dimensions</a:t>
            </a:r>
          </a:p>
          <a:p>
            <a:pPr defTabSz="1828800">
              <a:lnSpc>
                <a:spcPct val="100000"/>
              </a:lnSpc>
              <a:spcBef>
                <a:spcPts val="0"/>
              </a:spcBef>
              <a:defRPr sz="3600">
                <a:latin typeface="Franklin Gothic Book"/>
                <a:ea typeface="Franklin Gothic Book"/>
                <a:cs typeface="Franklin Gothic Book"/>
                <a:sym typeface="Franklin Gothic Book"/>
              </a:defRPr>
            </a:pPr>
            <a:r>
              <a:t>Broadcasting works when dimensions are </a:t>
            </a:r>
            <a:r>
              <a:rPr b="1"/>
              <a:t>equal</a:t>
            </a:r>
            <a:r>
              <a:t> or </a:t>
            </a:r>
            <a:r>
              <a:rPr b="1"/>
              <a:t>one of them is 1</a:t>
            </a:r>
            <a:r>
              <a:t>.</a:t>
            </a:r>
          </a:p>
        </p:txBody>
      </p:sp>
      <p:pic>
        <p:nvPicPr>
          <p:cNvPr id="242" name="Picture 14" descr="Picture 14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5491823" y="7728415"/>
            <a:ext cx="7862391" cy="2950873"/>
          </a:xfrm>
          <a:prstGeom prst="rect">
            <a:avLst/>
          </a:prstGeom>
          <a:ln w="12700">
            <a:miter lim="400000"/>
          </a:ln>
        </p:spPr>
      </p:pic>
      <p:sp>
        <p:nvSpPr>
          <p:cNvPr id="243" name="TextBox 16"/>
          <p:cNvSpPr txBox="1"/>
          <p:nvPr/>
        </p:nvSpPr>
        <p:spPr>
          <a:xfrm>
            <a:off x="1253822" y="9262181"/>
            <a:ext cx="13755398" cy="18210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tIns="91439" bIns="91439">
            <a:spAutoFit/>
          </a:bodyPr>
          <a:lstStyle/>
          <a:p>
            <a:pPr defTabSz="1828800">
              <a:lnSpc>
                <a:spcPct val="100000"/>
              </a:lnSpc>
              <a:spcBef>
                <a:spcPts val="0"/>
              </a:spcBef>
              <a:defRPr b="1" sz="3600">
                <a:latin typeface="Franklin Gothic Book"/>
                <a:ea typeface="Franklin Gothic Book"/>
                <a:cs typeface="Franklin Gothic Book"/>
                <a:sym typeface="Franklin Gothic Book"/>
              </a:defRPr>
            </a:pPr>
            <a:r>
              <a:t>4. Automatic Expansion of Size-1 Dimensions</a:t>
            </a:r>
          </a:p>
          <a:p>
            <a:pPr defTabSz="1828800">
              <a:lnSpc>
                <a:spcPct val="100000"/>
              </a:lnSpc>
              <a:spcBef>
                <a:spcPts val="0"/>
              </a:spcBef>
              <a:defRPr sz="3600">
                <a:latin typeface="Franklin Gothic Book"/>
                <a:ea typeface="Franklin Gothic Book"/>
                <a:cs typeface="Franklin Gothic Book"/>
                <a:sym typeface="Franklin Gothic Book"/>
              </a:defRPr>
            </a:pPr>
            <a:r>
              <a:t>If one array has a dimension of size 1, NumPy stretches it to match the other.</a:t>
            </a:r>
          </a:p>
        </p:txBody>
      </p:sp>
      <p:pic>
        <p:nvPicPr>
          <p:cNvPr id="244" name="Picture 17" descr="Picture 17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15491823" y="11296590"/>
            <a:ext cx="6544253" cy="2114015"/>
          </a:xfrm>
          <a:prstGeom prst="rect">
            <a:avLst/>
          </a:prstGeom>
          <a:ln w="12700">
            <a:miter lim="400000"/>
          </a:ln>
        </p:spPr>
      </p:pic>
      <p:sp>
        <p:nvSpPr>
          <p:cNvPr id="245" name="TextBox 19"/>
          <p:cNvSpPr txBox="1"/>
          <p:nvPr/>
        </p:nvSpPr>
        <p:spPr>
          <a:xfrm>
            <a:off x="1253818" y="11276487"/>
            <a:ext cx="13755398" cy="1821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tIns="91439" bIns="91439">
            <a:spAutoFit/>
          </a:bodyPr>
          <a:lstStyle/>
          <a:p>
            <a:pPr defTabSz="1828800">
              <a:lnSpc>
                <a:spcPct val="100000"/>
              </a:lnSpc>
              <a:spcBef>
                <a:spcPts val="0"/>
              </a:spcBef>
              <a:defRPr b="1" sz="3600">
                <a:latin typeface="Franklin Gothic Book"/>
                <a:ea typeface="Franklin Gothic Book"/>
                <a:cs typeface="Franklin Gothic Book"/>
                <a:sym typeface="Franklin Gothic Book"/>
              </a:defRPr>
            </a:pPr>
            <a:r>
              <a:t>5. Broadcasting Fails if Incompatible</a:t>
            </a:r>
          </a:p>
          <a:p>
            <a:pPr defTabSz="1828800">
              <a:lnSpc>
                <a:spcPct val="100000"/>
              </a:lnSpc>
              <a:spcBef>
                <a:spcPts val="0"/>
              </a:spcBef>
              <a:defRPr sz="3600">
                <a:latin typeface="Franklin Gothic Book"/>
                <a:ea typeface="Franklin Gothic Book"/>
                <a:cs typeface="Franklin Gothic Book"/>
                <a:sym typeface="Franklin Gothic Book"/>
              </a:defRPr>
            </a:pPr>
            <a:r>
              <a:t>If shapes don’t align according to the rules, NumPy raises an error.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ID="10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7" dur="500"/>
                                        <p:tgtEl>
                                          <p:spTgt spid="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Class="entr" nodeType="afterEffect" presetID="10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1" dur="500"/>
                                        <p:tgtEl>
                                          <p:spTgt spid="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Class="entr" nodeType="clickEffect" presetID="10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" fill="hold"/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6" dur="500"/>
                                        <p:tgtEl>
                                          <p:spTgt spid="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Class="entr" nodeType="afterEffect" presetID="10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9" fill="hold"/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20" dur="500"/>
                                        <p:tgtEl>
                                          <p:spTgt spid="2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Class="entr" nodeType="clickEffect" presetID="10" grpId="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" fill="hold"/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25" dur="500"/>
                                        <p:tgtEl>
                                          <p:spTgt spid="2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Class="entr" nodeType="afterEffect" presetID="10" grpId="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8" fill="hold"/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29" dur="500"/>
                                        <p:tgtEl>
                                          <p:spTgt spid="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Class="entr" nodeType="clickEffect" presetID="10" grpId="7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3" fill="hold"/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34" dur="500"/>
                                        <p:tgtEl>
                                          <p:spTgt spid="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Class="entr" nodeType="afterEffect" presetID="10" grpId="8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7" fill="hold"/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38" dur="500"/>
                                        <p:tgtEl>
                                          <p:spTgt spid="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244" grpId="8"/>
      <p:bldP build="whole" bldLvl="1" animBg="1" rev="0" advAuto="0" spid="241" grpId="5"/>
      <p:bldP build="whole" bldLvl="1" animBg="1" rev="0" advAuto="0" spid="237" grpId="1"/>
      <p:bldP build="whole" bldLvl="1" animBg="1" rev="0" advAuto="0" spid="239" grpId="3"/>
      <p:bldP build="whole" bldLvl="1" animBg="1" rev="0" advAuto="0" spid="238" grpId="2"/>
      <p:bldP build="whole" bldLvl="1" animBg="1" rev="0" advAuto="0" spid="243" grpId="7"/>
      <p:bldP build="whole" bldLvl="1" animBg="1" rev="0" advAuto="0" spid="242" grpId="6"/>
      <p:bldP build="whole" bldLvl="1" animBg="1" rev="0" advAuto="0" spid="240" grpId="4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NumPy Array Broadcasting</a:t>
            </a:r>
          </a:p>
        </p:txBody>
      </p:sp>
      <p:sp>
        <p:nvSpPr>
          <p:cNvPr id="248" name="TextBox 4"/>
          <p:cNvSpPr txBox="1"/>
          <p:nvPr/>
        </p:nvSpPr>
        <p:spPr>
          <a:xfrm>
            <a:off x="1253823" y="4334469"/>
            <a:ext cx="13415765" cy="18337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tIns="91439" bIns="91439">
            <a:spAutoFit/>
          </a:bodyPr>
          <a:lstStyle/>
          <a:p>
            <a:pPr defTabSz="1828800">
              <a:lnSpc>
                <a:spcPct val="100000"/>
              </a:lnSpc>
              <a:spcBef>
                <a:spcPts val="0"/>
              </a:spcBef>
              <a:defRPr b="1" sz="3600">
                <a:latin typeface="Franklin Gothic Book"/>
                <a:ea typeface="Franklin Gothic Book"/>
                <a:cs typeface="Franklin Gothic Book"/>
                <a:sym typeface="Franklin Gothic Book"/>
              </a:defRPr>
            </a:pPr>
            <a:r>
              <a:t>6. Broadcasting with Higher Dimensions</a:t>
            </a:r>
          </a:p>
          <a:p>
            <a:pPr defTabSz="1828800">
              <a:lnSpc>
                <a:spcPct val="100000"/>
              </a:lnSpc>
              <a:spcBef>
                <a:spcPts val="0"/>
              </a:spcBef>
              <a:defRPr sz="3600">
                <a:latin typeface="Franklin Gothic Book"/>
                <a:ea typeface="Franklin Gothic Book"/>
                <a:cs typeface="Franklin Gothic Book"/>
                <a:sym typeface="Franklin Gothic Book"/>
              </a:defRPr>
            </a:pPr>
            <a:r>
              <a:t>NumPy compares dimensions </a:t>
            </a:r>
            <a:r>
              <a:rPr b="1"/>
              <a:t>from right to left</a:t>
            </a:r>
            <a:r>
              <a:t>. Missing dimensions are assumed to be 1.</a:t>
            </a:r>
          </a:p>
        </p:txBody>
      </p:sp>
      <p:pic>
        <p:nvPicPr>
          <p:cNvPr id="249" name="Picture 5" descr="Picture 5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162383" y="6609962"/>
            <a:ext cx="11582401" cy="4038601"/>
          </a:xfrm>
          <a:prstGeom prst="rect">
            <a:avLst/>
          </a:prstGeom>
          <a:ln w="12700">
            <a:miter lim="400000"/>
          </a:ln>
        </p:spPr>
      </p:pic>
      <p:sp>
        <p:nvSpPr>
          <p:cNvPr id="250" name="TextBox 9"/>
          <p:cNvSpPr txBox="1"/>
          <p:nvPr/>
        </p:nvSpPr>
        <p:spPr>
          <a:xfrm>
            <a:off x="15309667" y="4460809"/>
            <a:ext cx="7820508" cy="63301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tIns="91439" bIns="91439">
            <a:spAutoFit/>
          </a:bodyPr>
          <a:lstStyle/>
          <a:p>
            <a:pPr defTabSz="1828800">
              <a:lnSpc>
                <a:spcPct val="100000"/>
              </a:lnSpc>
              <a:spcBef>
                <a:spcPts val="1200"/>
              </a:spcBef>
              <a:defRPr sz="3600">
                <a:latin typeface="Franklin Gothic Book"/>
                <a:ea typeface="Franklin Gothic Book"/>
                <a:cs typeface="Franklin Gothic Book"/>
                <a:sym typeface="Franklin Gothic Book"/>
              </a:defRPr>
            </a:pPr>
            <a:r>
              <a:t>✅ </a:t>
            </a:r>
            <a:r>
              <a:rPr b="1"/>
              <a:t>Summary of Broadcasting Rules</a:t>
            </a:r>
          </a:p>
          <a:p>
            <a:pPr defTabSz="1828800">
              <a:lnSpc>
                <a:spcPct val="100000"/>
              </a:lnSpc>
              <a:spcBef>
                <a:spcPts val="1200"/>
              </a:spcBef>
              <a:buSzPct val="100000"/>
              <a:buAutoNum type="arabicPeriod" startAt="1"/>
              <a:defRPr sz="3600">
                <a:latin typeface="Franklin Gothic Book"/>
                <a:ea typeface="Franklin Gothic Book"/>
                <a:cs typeface="Franklin Gothic Book"/>
                <a:sym typeface="Franklin Gothic Book"/>
              </a:defRPr>
            </a:pPr>
            <a:r>
              <a:t> NumPy compares array shapes from </a:t>
            </a:r>
            <a:r>
              <a:rPr b="1"/>
              <a:t>right to left</a:t>
            </a:r>
            <a:r>
              <a:t>.</a:t>
            </a:r>
          </a:p>
          <a:p>
            <a:pPr defTabSz="1828800">
              <a:lnSpc>
                <a:spcPct val="100000"/>
              </a:lnSpc>
              <a:spcBef>
                <a:spcPts val="1200"/>
              </a:spcBef>
              <a:buSzPct val="100000"/>
              <a:buAutoNum type="arabicPeriod" startAt="1"/>
              <a:defRPr sz="3600">
                <a:latin typeface="Franklin Gothic Book"/>
                <a:ea typeface="Franklin Gothic Book"/>
                <a:cs typeface="Franklin Gothic Book"/>
                <a:sym typeface="Franklin Gothic Book"/>
              </a:defRPr>
            </a:pPr>
            <a:r>
              <a:t> Two dimensions are compatible if they are </a:t>
            </a:r>
            <a:r>
              <a:rPr b="1"/>
              <a:t>equal</a:t>
            </a:r>
            <a:r>
              <a:t> or one is </a:t>
            </a:r>
            <a:r>
              <a:rPr b="1"/>
              <a:t>1</a:t>
            </a:r>
            <a:r>
              <a:t>.</a:t>
            </a:r>
          </a:p>
          <a:p>
            <a:pPr defTabSz="1828800">
              <a:lnSpc>
                <a:spcPct val="100000"/>
              </a:lnSpc>
              <a:spcBef>
                <a:spcPts val="1200"/>
              </a:spcBef>
              <a:buSzPct val="100000"/>
              <a:buAutoNum type="arabicPeriod" startAt="1"/>
              <a:defRPr sz="3600">
                <a:latin typeface="Franklin Gothic Book"/>
                <a:ea typeface="Franklin Gothic Book"/>
                <a:cs typeface="Franklin Gothic Book"/>
                <a:sym typeface="Franklin Gothic Book"/>
              </a:defRPr>
            </a:pPr>
            <a:r>
              <a:t> If one array has fewer dimensions, prepend 1s to its shape.</a:t>
            </a:r>
          </a:p>
          <a:p>
            <a:pPr defTabSz="1828800">
              <a:lnSpc>
                <a:spcPct val="100000"/>
              </a:lnSpc>
              <a:spcBef>
                <a:spcPts val="1200"/>
              </a:spcBef>
              <a:buSzPct val="100000"/>
              <a:buAutoNum type="arabicPeriod" startAt="1"/>
              <a:defRPr sz="3600">
                <a:latin typeface="Franklin Gothic Book"/>
                <a:ea typeface="Franklin Gothic Book"/>
                <a:cs typeface="Franklin Gothic Book"/>
                <a:sym typeface="Franklin Gothic Book"/>
              </a:defRPr>
            </a:pPr>
            <a:r>
              <a:t> If, after alignment, any dimension mismatch remains, broadcasting fails.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ID="10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7" dur="500"/>
                                        <p:tgtEl>
                                          <p:spTgt spid="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250" grpId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NumPy Array Slicing</a:t>
            </a:r>
          </a:p>
        </p:txBody>
      </p:sp>
      <p:sp>
        <p:nvSpPr>
          <p:cNvPr id="253" name="Content Placeholder 2"/>
          <p:cNvSpPr txBox="1"/>
          <p:nvPr>
            <p:ph type="body" idx="1"/>
          </p:nvPr>
        </p:nvSpPr>
        <p:spPr>
          <a:xfrm>
            <a:off x="1206500" y="3486504"/>
            <a:ext cx="21971000" cy="8256012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None/>
              <a:defRPr b="1"/>
            </a:pPr>
            <a:r>
              <a:t>The </a:t>
            </a:r>
            <a:r>
              <a:rPr b="0">
                <a:latin typeface="Franklin Gothic Book"/>
                <a:ea typeface="Franklin Gothic Book"/>
                <a:cs typeface="Franklin Gothic Book"/>
                <a:sym typeface="Franklin Gothic Book"/>
              </a:rPr>
              <a:t>Array slicing in </a:t>
            </a:r>
            <a:r>
              <a:t>NumPy</a:t>
            </a:r>
            <a:r>
              <a:rPr b="0">
                <a:latin typeface="Franklin Gothic Book"/>
                <a:ea typeface="Franklin Gothic Book"/>
                <a:cs typeface="Franklin Gothic Book"/>
                <a:sym typeface="Franklin Gothic Book"/>
              </a:rPr>
              <a:t> is a way to extract a </a:t>
            </a:r>
            <a:r>
              <a:t>portion (subset) of an array</a:t>
            </a:r>
            <a:r>
              <a:rPr b="0">
                <a:latin typeface="Franklin Gothic Book"/>
                <a:ea typeface="Franklin Gothic Book"/>
                <a:cs typeface="Franklin Gothic Book"/>
                <a:sym typeface="Franklin Gothic Book"/>
              </a:rPr>
              <a:t> by specifying start, stop, and step positions along one or more dimensions.</a:t>
            </a:r>
            <a:endParaRPr b="0">
              <a:latin typeface="Franklin Gothic Book"/>
              <a:ea typeface="Franklin Gothic Book"/>
              <a:cs typeface="Franklin Gothic Book"/>
              <a:sym typeface="Franklin Gothic Book"/>
            </a:endParaRPr>
          </a:p>
          <a:p>
            <a:pPr marL="0" indent="0">
              <a:buSzTx/>
              <a:buNone/>
              <a:defRPr b="1"/>
            </a:pPr>
            <a:r>
              <a:t>basics: start: stop: step</a:t>
            </a:r>
          </a:p>
          <a:p>
            <a:pPr/>
            <a:r>
              <a:t>Slices use </a:t>
            </a:r>
            <a:r>
              <a:rPr b="1">
                <a:latin typeface="Franklin Gothic Book"/>
                <a:ea typeface="Franklin Gothic Book"/>
                <a:cs typeface="Franklin Gothic Book"/>
                <a:sym typeface="Franklin Gothic Book"/>
              </a:rPr>
              <a:t>half-open intervals</a:t>
            </a:r>
            <a:r>
              <a:t>: start inclusive, stop exclusive.</a:t>
            </a:r>
          </a:p>
          <a:p>
            <a:pPr/>
            <a:r>
              <a:t>Any part can be omitted; defaults are start=0, stop=len, step=1.</a:t>
            </a:r>
          </a:p>
          <a:p>
            <a:pPr/>
            <a:r>
              <a:t>Negative indices count from the end; negative step reverses direction.</a:t>
            </a:r>
          </a:p>
          <a:p>
            <a:pPr/>
            <a:r>
              <a:t>Slicing returns a </a:t>
            </a:r>
            <a:r>
              <a:rPr b="1">
                <a:latin typeface="Franklin Gothic Book"/>
                <a:ea typeface="Franklin Gothic Book"/>
                <a:cs typeface="Franklin Gothic Book"/>
                <a:sym typeface="Franklin Gothic Book"/>
              </a:rPr>
              <a:t>view</a:t>
            </a:r>
            <a:r>
              <a:t> (no data copy) when possible.</a:t>
            </a:r>
          </a:p>
        </p:txBody>
      </p:sp>
      <p:sp>
        <p:nvSpPr>
          <p:cNvPr id="254" name="TextBox 4">
            <a:hlinkClick r:id="rId2" invalidUrl="" action="" tgtFrame="" tooltip="" history="1" highlightClick="0" endSnd="0"/>
          </p:cNvPr>
          <p:cNvSpPr txBox="1"/>
          <p:nvPr/>
        </p:nvSpPr>
        <p:spPr>
          <a:xfrm>
            <a:off x="5356675" y="12222646"/>
            <a:ext cx="14160138" cy="716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tIns="91439" bIns="91439">
            <a:spAutoFit/>
          </a:bodyPr>
          <a:lstStyle>
            <a:lvl1pPr defTabSz="1828800">
              <a:lnSpc>
                <a:spcPct val="100000"/>
              </a:lnSpc>
              <a:spcBef>
                <a:spcPts val="0"/>
              </a:spcBef>
              <a:defRPr sz="3600">
                <a:latin typeface="Franklin Gothic Book"/>
                <a:ea typeface="Franklin Gothic Book"/>
                <a:cs typeface="Franklin Gothic Book"/>
                <a:sym typeface="Franklin Gothic Book"/>
              </a:defRPr>
            </a:lvl1pPr>
          </a:lstStyle>
          <a:p>
            <a:pPr/>
            <a:r>
              <a:t>Go to short_numpy_array_slicing_guide_exercises.ipynb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Slide Subtitle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57" name="Content Placeholder 2"/>
          <p:cNvSpPr txBox="1"/>
          <p:nvPr>
            <p:ph type="body" sz="half" idx="1"/>
          </p:nvPr>
        </p:nvSpPr>
        <p:spPr>
          <a:prstGeom prst="rect">
            <a:avLst/>
          </a:prstGeom>
        </p:spPr>
        <p:txBody>
          <a:bodyPr/>
          <a:lstStyle/>
          <a:p>
            <a:pPr marL="0" indent="0" defTabSz="1463003">
              <a:lnSpc>
                <a:spcPct val="99000"/>
              </a:lnSpc>
              <a:spcBef>
                <a:spcPts val="2700"/>
              </a:spcBef>
              <a:buSzTx/>
              <a:buNone/>
              <a:defRPr b="1" sz="2880"/>
            </a:pPr>
            <a:r>
              <a:t>Non-vectorized approach:</a:t>
            </a:r>
          </a:p>
          <a:p>
            <a:pPr marL="365760" indent="-365760" defTabSz="1463003">
              <a:lnSpc>
                <a:spcPct val="99000"/>
              </a:lnSpc>
              <a:spcBef>
                <a:spcPts val="2700"/>
              </a:spcBef>
              <a:defRPr sz="2880"/>
            </a:pPr>
            <a:r>
              <a:t>You write </a:t>
            </a:r>
            <a:r>
              <a:rPr b="1">
                <a:latin typeface="Franklin Gothic Book"/>
                <a:ea typeface="Franklin Gothic Book"/>
                <a:cs typeface="Franklin Gothic Book"/>
                <a:sym typeface="Franklin Gothic Book"/>
              </a:rPr>
              <a:t>explicit loops</a:t>
            </a:r>
            <a:r>
              <a:t> in Python (e.g., for loops) to process elements one by one.</a:t>
            </a:r>
          </a:p>
          <a:p>
            <a:pPr marL="365760" indent="-365760" defTabSz="1463003">
              <a:lnSpc>
                <a:spcPct val="99000"/>
              </a:lnSpc>
              <a:spcBef>
                <a:spcPts val="2700"/>
              </a:spcBef>
              <a:defRPr sz="2880"/>
            </a:pPr>
            <a:r>
              <a:t>This is straightforward but </a:t>
            </a:r>
            <a:r>
              <a:rPr b="1">
                <a:latin typeface="Franklin Gothic Book"/>
                <a:ea typeface="Franklin Gothic Book"/>
                <a:cs typeface="Franklin Gothic Book"/>
                <a:sym typeface="Franklin Gothic Book"/>
              </a:rPr>
              <a:t>slow</a:t>
            </a:r>
            <a:r>
              <a:t>, because each iteration runs in Python’s interpreter, which has a lot of overhead.</a:t>
            </a:r>
          </a:p>
          <a:p>
            <a:pPr marL="0" indent="0" defTabSz="1463003">
              <a:lnSpc>
                <a:spcPct val="99000"/>
              </a:lnSpc>
              <a:spcBef>
                <a:spcPts val="2700"/>
              </a:spcBef>
              <a:buSzTx/>
              <a:buNone/>
              <a:defRPr b="1" sz="2880"/>
            </a:pPr>
            <a:r>
              <a:t>Vectorized approach:</a:t>
            </a:r>
          </a:p>
          <a:p>
            <a:pPr marL="365760" indent="-365760" defTabSz="1463003">
              <a:lnSpc>
                <a:spcPct val="99000"/>
              </a:lnSpc>
              <a:spcBef>
                <a:spcPts val="2700"/>
              </a:spcBef>
              <a:defRPr sz="2880"/>
            </a:pPr>
            <a:r>
              <a:t>You use </a:t>
            </a:r>
            <a:r>
              <a:rPr b="1">
                <a:latin typeface="Franklin Gothic Book"/>
                <a:ea typeface="Franklin Gothic Book"/>
                <a:cs typeface="Franklin Gothic Book"/>
                <a:sym typeface="Franklin Gothic Book"/>
              </a:rPr>
              <a:t>NumPy</a:t>
            </a:r>
            <a:r>
              <a:t>, </a:t>
            </a:r>
            <a:r>
              <a:rPr b="1">
                <a:latin typeface="Franklin Gothic Book"/>
                <a:ea typeface="Franklin Gothic Book"/>
                <a:cs typeface="Franklin Gothic Book"/>
                <a:sym typeface="Franklin Gothic Book"/>
              </a:rPr>
              <a:t>Pandas</a:t>
            </a:r>
            <a:r>
              <a:t>, or similar libraries that implement operations in optimized C/Fortran code under the hood.</a:t>
            </a:r>
          </a:p>
          <a:p>
            <a:pPr marL="365760" indent="-365760" defTabSz="1463003">
              <a:lnSpc>
                <a:spcPct val="99000"/>
              </a:lnSpc>
              <a:spcBef>
                <a:spcPts val="2700"/>
              </a:spcBef>
              <a:defRPr sz="2880"/>
            </a:pPr>
            <a:r>
              <a:t>The operation applies to the </a:t>
            </a:r>
            <a:r>
              <a:rPr b="1">
                <a:latin typeface="Franklin Gothic Book"/>
                <a:ea typeface="Franklin Gothic Book"/>
                <a:cs typeface="Franklin Gothic Book"/>
                <a:sym typeface="Franklin Gothic Book"/>
              </a:rPr>
              <a:t>whole array at once</a:t>
            </a:r>
            <a:r>
              <a:t>, avoiding explicit Python loops.</a:t>
            </a:r>
          </a:p>
          <a:p>
            <a:pPr marL="365760" indent="-365760" defTabSz="1463003">
              <a:lnSpc>
                <a:spcPct val="99000"/>
              </a:lnSpc>
              <a:spcBef>
                <a:spcPts val="2700"/>
              </a:spcBef>
              <a:defRPr sz="2880"/>
            </a:pPr>
            <a:r>
              <a:t>Much </a:t>
            </a:r>
            <a:r>
              <a:rPr b="1">
                <a:latin typeface="Franklin Gothic Book"/>
                <a:ea typeface="Franklin Gothic Book"/>
                <a:cs typeface="Franklin Gothic Book"/>
                <a:sym typeface="Franklin Gothic Book"/>
              </a:rPr>
              <a:t>faster</a:t>
            </a:r>
            <a:r>
              <a:t> and more concise.</a:t>
            </a:r>
          </a:p>
        </p:txBody>
      </p:sp>
      <p:sp>
        <p:nvSpPr>
          <p:cNvPr id="258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1365469">
              <a:defRPr spc="-95" sz="4760"/>
            </a:lvl1pPr>
          </a:lstStyle>
          <a:p>
            <a:pPr/>
            <a:r>
              <a:t>non-vectorization vs Vectorization in Python/NumPy</a:t>
            </a:r>
          </a:p>
        </p:txBody>
      </p:sp>
      <p:pic>
        <p:nvPicPr>
          <p:cNvPr id="259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3202158" y="4576081"/>
            <a:ext cx="10019457" cy="456383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072588">
              <a:defRPr spc="-144" sz="7225"/>
            </a:lvl1pPr>
          </a:lstStyle>
          <a:p>
            <a:pPr/>
            <a:r>
              <a:t>non-vectorization vs Vectorization in Python/NumPy</a:t>
            </a:r>
          </a:p>
        </p:txBody>
      </p:sp>
      <p:pic>
        <p:nvPicPr>
          <p:cNvPr id="262" name="Picture 6" descr="Picture 6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527383" y="3376857"/>
            <a:ext cx="15544801" cy="4327673"/>
          </a:xfrm>
          <a:prstGeom prst="rect">
            <a:avLst/>
          </a:prstGeom>
          <a:ln w="12700">
            <a:miter lim="400000"/>
          </a:ln>
        </p:spPr>
      </p:pic>
      <p:pic>
        <p:nvPicPr>
          <p:cNvPr id="263" name="Picture 7" descr="Picture 7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162383" y="8833815"/>
            <a:ext cx="15087601" cy="3581401"/>
          </a:xfrm>
          <a:prstGeom prst="rect">
            <a:avLst/>
          </a:prstGeom>
          <a:ln w="12700">
            <a:miter lim="400000"/>
          </a:ln>
        </p:spPr>
      </p:pic>
      <p:sp>
        <p:nvSpPr>
          <p:cNvPr id="264" name="TextBox 9"/>
          <p:cNvSpPr txBox="1"/>
          <p:nvPr/>
        </p:nvSpPr>
        <p:spPr>
          <a:xfrm>
            <a:off x="13254657" y="2616730"/>
            <a:ext cx="9966959" cy="645033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tIns="91439" bIns="91439">
            <a:spAutoFit/>
          </a:bodyPr>
          <a:lstStyle/>
          <a:p>
            <a:pPr defTabSz="1828800">
              <a:lnSpc>
                <a:spcPct val="100000"/>
              </a:lnSpc>
              <a:spcBef>
                <a:spcPts val="1200"/>
              </a:spcBef>
              <a:buSzPct val="100000"/>
              <a:buAutoNum type="arabicPeriod" startAt="1"/>
              <a:defRPr sz="3200">
                <a:solidFill>
                  <a:srgbClr val="1F1F1F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np_array = np.array(input_array)</a:t>
            </a:r>
            <a:r>
              <a:rPr>
                <a:latin typeface="Google Sans Text"/>
                <a:ea typeface="Google Sans Text"/>
                <a:cs typeface="Google Sans Text"/>
                <a:sym typeface="Google Sans Text"/>
              </a:rPr>
              <a:t>: It first converts the input list of lists (</a:t>
            </a:r>
            <a:r>
              <a:t>input_array</a:t>
            </a:r>
            <a:r>
              <a:rPr>
                <a:latin typeface="Google Sans Text"/>
                <a:ea typeface="Google Sans Text"/>
                <a:cs typeface="Google Sans Text"/>
                <a:sym typeface="Google Sans Text"/>
              </a:rPr>
              <a:t>) into a NumPy array. This is crucial for utilizing NumPy's vectorized functions.</a:t>
            </a:r>
            <a:endParaRPr>
              <a:latin typeface="Google Sans Text"/>
              <a:ea typeface="Google Sans Text"/>
              <a:cs typeface="Google Sans Text"/>
              <a:sym typeface="Google Sans Text"/>
            </a:endParaRPr>
          </a:p>
          <a:p>
            <a:pPr defTabSz="1828800">
              <a:lnSpc>
                <a:spcPct val="100000"/>
              </a:lnSpc>
              <a:spcBef>
                <a:spcPts val="1200"/>
              </a:spcBef>
              <a:buSzPct val="100000"/>
              <a:buAutoNum type="arabicPeriod" startAt="1"/>
              <a:defRPr sz="3200">
                <a:solidFill>
                  <a:srgbClr val="1F1F1F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means = np.mean(np_array, axis=1)</a:t>
            </a:r>
            <a:r>
              <a:rPr>
                <a:latin typeface="Google Sans Text"/>
                <a:ea typeface="Google Sans Text"/>
                <a:cs typeface="Google Sans Text"/>
                <a:sym typeface="Google Sans Text"/>
              </a:rPr>
              <a:t>: This is the core of the vectorization. </a:t>
            </a:r>
            <a:r>
              <a:t>np.mean()</a:t>
            </a:r>
            <a:r>
              <a:rPr>
                <a:latin typeface="Google Sans Text"/>
                <a:ea typeface="Google Sans Text"/>
                <a:cs typeface="Google Sans Text"/>
                <a:sym typeface="Google Sans Text"/>
              </a:rPr>
              <a:t> is a NumPy function that calculates the mean of array elements. The </a:t>
            </a:r>
            <a:r>
              <a:t>axis=1</a:t>
            </a:r>
            <a:r>
              <a:rPr>
                <a:latin typeface="Google Sans Text"/>
                <a:ea typeface="Google Sans Text"/>
                <a:cs typeface="Google Sans Text"/>
                <a:sym typeface="Google Sans Text"/>
              </a:rPr>
              <a:t> argument specifies that the mean should be computed along the rows (axis 0 is for columns).</a:t>
            </a:r>
            <a:endParaRPr>
              <a:latin typeface="Google Sans Text"/>
              <a:ea typeface="Google Sans Text"/>
              <a:cs typeface="Google Sans Text"/>
              <a:sym typeface="Google Sans Text"/>
            </a:endParaRPr>
          </a:p>
          <a:p>
            <a:pPr defTabSz="1828800">
              <a:lnSpc>
                <a:spcPct val="100000"/>
              </a:lnSpc>
              <a:spcBef>
                <a:spcPts val="1200"/>
              </a:spcBef>
              <a:buSzPct val="100000"/>
              <a:buAutoNum type="arabicPeriod" startAt="1"/>
              <a:defRPr sz="3200">
                <a:solidFill>
                  <a:srgbClr val="1F1F1F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return means</a:t>
            </a:r>
            <a:r>
              <a:rPr>
                <a:latin typeface="Google Sans Text"/>
                <a:ea typeface="Google Sans Text"/>
                <a:cs typeface="Google Sans Text"/>
                <a:sym typeface="Google Sans Text"/>
              </a:rPr>
              <a:t>: The function returns the resulting NumPy array containing the mean of each row.</a:t>
            </a:r>
          </a:p>
        </p:txBody>
      </p:sp>
      <p:sp>
        <p:nvSpPr>
          <p:cNvPr id="265" name="TextBox 11"/>
          <p:cNvSpPr txBox="1"/>
          <p:nvPr/>
        </p:nvSpPr>
        <p:spPr>
          <a:xfrm>
            <a:off x="12082337" y="11452873"/>
            <a:ext cx="12017828" cy="184601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tIns="91439" bIns="91439">
            <a:spAutoFit/>
          </a:bodyPr>
          <a:lstStyle/>
          <a:p>
            <a:pPr defTabSz="1828800">
              <a:lnSpc>
                <a:spcPct val="100000"/>
              </a:lnSpc>
              <a:spcBef>
                <a:spcPts val="0"/>
              </a:spcBef>
              <a:defRPr sz="3600">
                <a:latin typeface="Franklin Gothic Book"/>
                <a:ea typeface="Franklin Gothic Book"/>
                <a:cs typeface="Franklin Gothic Book"/>
                <a:sym typeface="Franklin Gothic Book"/>
              </a:defRPr>
            </a:pPr>
            <a:r>
              <a:t>When you perform an operation with axis=1, </a:t>
            </a:r>
            <a:r>
              <a:rPr b="1"/>
              <a:t>you are telling NumPy to perform the operation </a:t>
            </a:r>
            <a:r>
              <a:rPr b="1" i="1"/>
              <a:t>along</a:t>
            </a:r>
            <a:r>
              <a:rPr b="1"/>
              <a:t> the columns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ID="10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7" dur="500"/>
                                        <p:tgtEl>
                                          <p:spTgt spid="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Class="entr" nodeType="clickEffect" presetID="10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2" dur="500"/>
                                        <p:tgtEl>
                                          <p:spTgt spid="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Class="entr" nodeType="clickEffect" presetID="10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7" dur="500"/>
                                        <p:tgtEl>
                                          <p:spTgt spid="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Class="entr" nodeType="clickEffect" presetID="10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1" fill="hold"/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22" dur="500"/>
                                        <p:tgtEl>
                                          <p:spTgt spid="2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265" grpId="4"/>
      <p:bldP build="whole" bldLvl="1" animBg="1" rev="0" advAuto="0" spid="264" grpId="3"/>
      <p:bldP build="whole" bldLvl="1" animBg="1" rev="0" advAuto="0" spid="262" grpId="1"/>
      <p:bldP build="whole" bldLvl="1" animBg="1" rev="0" advAuto="0" spid="263" grpId="2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072588">
              <a:defRPr spc="-144" sz="7225"/>
            </a:lvl1pPr>
          </a:lstStyle>
          <a:p>
            <a:pPr/>
            <a:r>
              <a:t>non-vectorization vs Vectorization in Python/NumPy</a:t>
            </a:r>
          </a:p>
        </p:txBody>
      </p:sp>
      <p:pic>
        <p:nvPicPr>
          <p:cNvPr id="270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732311" y="6155130"/>
            <a:ext cx="15544801" cy="3042227"/>
          </a:xfrm>
          <a:prstGeom prst="rect">
            <a:avLst/>
          </a:prstGeom>
          <a:ln w="12700">
            <a:miter lim="400000"/>
          </a:ln>
        </p:spPr>
      </p:pic>
      <p:pic>
        <p:nvPicPr>
          <p:cNvPr id="271" name="Picture 4" descr="Picture 4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2732311" y="9855216"/>
            <a:ext cx="15544801" cy="2712243"/>
          </a:xfrm>
          <a:prstGeom prst="rect">
            <a:avLst/>
          </a:prstGeom>
          <a:ln w="12700">
            <a:miter lim="400000"/>
          </a:ln>
        </p:spPr>
      </p:pic>
      <p:pic>
        <p:nvPicPr>
          <p:cNvPr id="272" name="Picture 8" descr="Picture 8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6172200" y="2828999"/>
            <a:ext cx="12039600" cy="299720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Key Linear Algebra Operations with NumPy</a:t>
            </a:r>
          </a:p>
        </p:txBody>
      </p:sp>
      <p:sp>
        <p:nvSpPr>
          <p:cNvPr id="275" name="Slide Subtitle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76" name="Content Placeholder 2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0" indent="0">
              <a:buSzTx/>
              <a:buNone/>
            </a:pPr>
            <a:r>
              <a:t>Matrix operations</a:t>
            </a:r>
          </a:p>
          <a:p>
            <a:pPr/>
            <a:r>
              <a:t>np.dot() — Dot product</a:t>
            </a:r>
          </a:p>
          <a:p>
            <a:pPr/>
            <a:r>
              <a:t>np.matmul() — Matrix multiplication</a:t>
            </a:r>
          </a:p>
          <a:p>
            <a:pPr/>
            <a:r>
              <a:t>np.transpose() — Transpose of an array</a:t>
            </a:r>
          </a:p>
          <a:p>
            <a:pPr/>
            <a:r>
              <a:t>np.reshape() — Reshape an array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Group Challenge: Mean Squared Error</a:t>
            </a:r>
          </a:p>
        </p:txBody>
      </p:sp>
      <p:sp>
        <p:nvSpPr>
          <p:cNvPr id="279" name="Write a function using NumPy to implement mean squared error between two arrays, each of size n…"/>
          <p:cNvSpPr txBox="1"/>
          <p:nvPr>
            <p:ph type="body" sz="half" idx="1"/>
          </p:nvPr>
        </p:nvSpPr>
        <p:spPr>
          <a:xfrm>
            <a:off x="1206500" y="6417217"/>
            <a:ext cx="21971000" cy="6087299"/>
          </a:xfrm>
          <a:prstGeom prst="rect">
            <a:avLst/>
          </a:prstGeom>
        </p:spPr>
        <p:txBody>
          <a:bodyPr/>
          <a:lstStyle/>
          <a:p>
            <a:pPr marL="571500" indent="-571500" defTabSz="1828800">
              <a:lnSpc>
                <a:spcPct val="100000"/>
              </a:lnSpc>
              <a:spcBef>
                <a:spcPts val="2400"/>
              </a:spcBef>
              <a:buSzPct val="100000"/>
              <a:buFont typeface="Arial"/>
              <a:defRPr sz="3600">
                <a:solidFill>
                  <a:srgbClr val="1F1F1F"/>
                </a:solidFill>
                <a:latin typeface="Franklin Gothic Book"/>
                <a:ea typeface="Franklin Gothic Book"/>
                <a:cs typeface="Franklin Gothic Book"/>
                <a:sym typeface="Franklin Gothic Book"/>
              </a:defRPr>
            </a:pPr>
            <a:r>
              <a:t>Write a function using NumPy to implement mean squared error between two arrays, each of size n</a:t>
            </a:r>
          </a:p>
          <a:p>
            <a:pPr marL="571500" indent="-571500" defTabSz="1828800">
              <a:lnSpc>
                <a:spcPct val="100000"/>
              </a:lnSpc>
              <a:spcBef>
                <a:spcPts val="2400"/>
              </a:spcBef>
              <a:buSzPct val="100000"/>
              <a:buFont typeface="Arial"/>
              <a:defRPr sz="3600">
                <a:solidFill>
                  <a:srgbClr val="1F1F1F"/>
                </a:solidFill>
                <a:latin typeface="Franklin Gothic Book"/>
                <a:ea typeface="Franklin Gothic Book"/>
                <a:cs typeface="Franklin Gothic Book"/>
                <a:sym typeface="Franklin Gothic Book"/>
              </a:defRPr>
            </a:pPr>
            <a:r>
              <a:t>Use the np.square function and the .mean() method. </a:t>
            </a:r>
          </a:p>
          <a:p>
            <a:pPr marL="571500" indent="-571500" defTabSz="1828800">
              <a:lnSpc>
                <a:spcPct val="100000"/>
              </a:lnSpc>
              <a:spcBef>
                <a:spcPts val="2400"/>
              </a:spcBef>
              <a:buSzPct val="100000"/>
              <a:buFont typeface="Arial"/>
              <a:defRPr sz="3600">
                <a:solidFill>
                  <a:srgbClr val="1F1F1F"/>
                </a:solidFill>
                <a:latin typeface="Franklin Gothic Book"/>
                <a:ea typeface="Franklin Gothic Book"/>
                <a:cs typeface="Franklin Gothic Book"/>
                <a:sym typeface="Franklin Gothic Book"/>
              </a:defRPr>
            </a:pPr>
            <a:r>
              <a:t>Break down the problem into calculating the squared error first, then find the mean of that squared error.</a:t>
            </a:r>
          </a:p>
        </p:txBody>
      </p:sp>
      <p:sp>
        <p:nvSpPr>
          <p:cNvPr id="280" name="Rectangle 7"/>
          <p:cNvSpPr txBox="1"/>
          <p:nvPr/>
        </p:nvSpPr>
        <p:spPr>
          <a:xfrm flipH="1" rot="10800000">
            <a:off x="113051" y="-664316"/>
            <a:ext cx="13428570" cy="1242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69827" tIns="69827" rIns="69827" bIns="69827" anchor="ctr">
            <a:spAutoFit/>
          </a:bodyPr>
          <a:lstStyle/>
          <a:p>
            <a:pPr defTabSz="1828800">
              <a:lnSpc>
                <a:spcPct val="100000"/>
              </a:lnSpc>
              <a:spcBef>
                <a:spcPts val="0"/>
              </a:spcBef>
              <a:defRPr sz="3800">
                <a:solidFill>
                  <a:srgbClr val="1F1F1F"/>
                </a:solidFill>
                <a:latin typeface="Google Sans Text"/>
                <a:ea typeface="Google Sans Text"/>
                <a:cs typeface="Google Sans Text"/>
                <a:sym typeface="Google Sans Text"/>
              </a:defRPr>
            </a:pPr>
            <a:r>
              <a:t>Breakdown of MSE calculation </a:t>
            </a:r>
            <a:r>
              <a:rPr b="1"/>
              <a:t>without</a:t>
            </a:r>
            <a:r>
              <a:t> and </a:t>
            </a:r>
            <a:r>
              <a:rPr b="1"/>
              <a:t>with</a:t>
            </a:r>
            <a:r>
              <a:t> vectorization</a:t>
            </a:r>
          </a:p>
        </p:txBody>
      </p:sp>
      <p:sp>
        <p:nvSpPr>
          <p:cNvPr id="281" name="Rectangle 8"/>
          <p:cNvSpPr/>
          <p:nvPr/>
        </p:nvSpPr>
        <p:spPr>
          <a:xfrm>
            <a:off x="0" y="0"/>
            <a:ext cx="24384000" cy="3175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miter/>
          </a:ln>
        </p:spPr>
        <p:txBody>
          <a:bodyPr tIns="91439" bIns="91439" anchor="ctr"/>
          <a:lstStyle/>
          <a:p>
            <a:pPr defTabSz="1828800">
              <a:lnSpc>
                <a:spcPct val="100000"/>
              </a:lnSpc>
              <a:spcBef>
                <a:spcPts val="0"/>
              </a:spcBef>
              <a:defRPr sz="3600">
                <a:latin typeface="Franklin Gothic Book"/>
                <a:ea typeface="Franklin Gothic Book"/>
                <a:cs typeface="Franklin Gothic Book"/>
                <a:sym typeface="Franklin Gothic Book"/>
              </a:defRPr>
            </a:pPr>
          </a:p>
        </p:txBody>
      </p:sp>
      <p:sp>
        <p:nvSpPr>
          <p:cNvPr id="282" name="Rectangle 10"/>
          <p:cNvSpPr/>
          <p:nvPr/>
        </p:nvSpPr>
        <p:spPr>
          <a:xfrm>
            <a:off x="0" y="0"/>
            <a:ext cx="24384000" cy="3175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miter/>
          </a:ln>
        </p:spPr>
        <p:txBody>
          <a:bodyPr tIns="91439" bIns="91439" anchor="ctr"/>
          <a:lstStyle/>
          <a:p>
            <a:pPr defTabSz="1828800">
              <a:lnSpc>
                <a:spcPct val="100000"/>
              </a:lnSpc>
              <a:spcBef>
                <a:spcPts val="0"/>
              </a:spcBef>
              <a:defRPr sz="3600">
                <a:latin typeface="Franklin Gothic Book"/>
                <a:ea typeface="Franklin Gothic Book"/>
                <a:cs typeface="Franklin Gothic Book"/>
                <a:sym typeface="Franklin Gothic Book"/>
              </a:defRPr>
            </a:pPr>
          </a:p>
        </p:txBody>
      </p:sp>
      <p:pic>
        <p:nvPicPr>
          <p:cNvPr id="283" name="Picture 12" descr="Picture 1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261529" y="3398139"/>
            <a:ext cx="6502401" cy="200660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Python Code Examples</a:t>
            </a:r>
          </a:p>
        </p:txBody>
      </p:sp>
      <p:sp>
        <p:nvSpPr>
          <p:cNvPr id="286" name="Slide Subtitle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87" name="Content Placeholder 2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611999" indent="-611999">
              <a:spcBef>
                <a:spcPts val="1100"/>
              </a:spcBef>
            </a:pPr>
            <a:r>
              <a:t>Introduction to NumPy: </a:t>
            </a:r>
            <a:r>
              <a:rPr u="sng">
                <a:solidFill>
                  <a:srgbClr val="6EAC1C"/>
                </a:solidFill>
                <a:uFill>
                  <a:solidFill>
                    <a:srgbClr val="6EAC1C"/>
                  </a:solidFill>
                </a:uFill>
                <a:hlinkClick r:id="rId2" invalidUrl="" action="" tgtFrame="" tooltip="" history="1" highlightClick="0" endSnd="0"/>
              </a:rPr>
              <a:t>https://colab.research.google.com/drive/1F0SNYtuqqcJHzrjYXX62KGGoc-v-VePl#scrollTo=H5Gk682T7FQI</a:t>
            </a:r>
            <a:r>
              <a:t> </a:t>
            </a:r>
          </a:p>
          <a:p>
            <a:pPr marL="611999" indent="-611999">
              <a:spcBef>
                <a:spcPts val="1100"/>
              </a:spcBef>
            </a:pPr>
            <a:r>
              <a:t>Mean Squared Error Details: </a:t>
            </a:r>
            <a:r>
              <a:rPr u="sng">
                <a:solidFill>
                  <a:srgbClr val="6EAC1C"/>
                </a:solidFill>
                <a:uFill>
                  <a:solidFill>
                    <a:srgbClr val="6EAC1C"/>
                  </a:solidFill>
                </a:uFill>
                <a:hlinkClick r:id="rId3" invalidUrl="" action="" tgtFrame="" tooltip="" history="1" highlightClick="0" endSnd="0"/>
              </a:rPr>
              <a:t>https://colab.research.google.com/drive/1nzF3azRRvtFONjigEQ1O2qzr5AGCMX_U#scrollTo=Cq9_xFg9zgIP</a:t>
            </a:r>
            <a:r>
              <a:t> </a:t>
            </a:r>
          </a:p>
          <a:p>
            <a:pPr marL="611999" indent="-611999">
              <a:spcBef>
                <a:spcPts val="1100"/>
              </a:spcBef>
            </a:pPr>
            <a:r>
              <a:t>DS Lab 2: Vectorization Hints: </a:t>
            </a:r>
            <a:r>
              <a:rPr u="sng">
                <a:solidFill>
                  <a:srgbClr val="6EAC1C"/>
                </a:solidFill>
                <a:uFill>
                  <a:solidFill>
                    <a:srgbClr val="6EAC1C"/>
                  </a:solidFill>
                </a:uFill>
                <a:hlinkClick r:id="rId4" invalidUrl="" action="" tgtFrame="" tooltip="" history="1" highlightClick="0" endSnd="0"/>
              </a:rPr>
              <a:t>https://colab.research.google.com/drive/1m3T5CZOsrUdI5b4rnDDm4vekRrTL_hmg</a:t>
            </a:r>
            <a:r>
              <a:t> 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30_BasicColor">
  <a:themeElements>
    <a:clrScheme name="30_BasicColor">
      <a:dk1>
        <a:srgbClr val="000000"/>
      </a:dk1>
      <a:lt1>
        <a:srgbClr val="003462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30_BasicColor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30_BasicCol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30_BasicColor">
  <a:themeElements>
    <a:clrScheme name="30_BasicColor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30_BasicColor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30_BasicCol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